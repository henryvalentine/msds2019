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65" r:id="rId3"/>
    <p:sldId id="258" r:id="rId4"/>
    <p:sldId id="269" r:id="rId5"/>
    <p:sldId id="260" r:id="rId6"/>
    <p:sldId id="261" r:id="rId7"/>
    <p:sldId id="270" r:id="rId8"/>
    <p:sldId id="262" r:id="rId9"/>
    <p:sldId id="263" r:id="rId10"/>
    <p:sldId id="264" r:id="rId11"/>
    <p:sldId id="266" r:id="rId12"/>
    <p:sldId id="268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DC7"/>
    <a:srgbClr val="494949"/>
    <a:srgbClr val="18181C"/>
    <a:srgbClr val="028090"/>
    <a:srgbClr val="1E3A8A"/>
    <a:srgbClr val="080F1A"/>
    <a:srgbClr val="4A55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4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858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BA236-7AAC-BED4-B9E5-169DC4ABA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F13D9-5825-177C-6797-6F25D5DF6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6BAA8-715B-6E46-6B81-4D1EFD8FD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D87AF-B4DB-7371-B31F-8704A10079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76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42F9C-4E72-99B5-32E7-776E43CC2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0D9F6-09D9-2D32-CBD7-A0FACF1F1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ADB77-E7F4-A910-8C93-429B7230A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7033F-E06A-FCC8-F92A-9FEF0F23D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66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0DF3C-98F1-86EB-D52F-4E94F181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065D7-ED94-85F7-D9CB-10132E76F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4103E-2F3C-88CE-641C-DFE083093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864EE-84CC-E2E7-304D-37207662D7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63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3">
            <a:extLst>
              <a:ext uri="{FF2B5EF4-FFF2-40B4-BE49-F238E27FC236}">
                <a16:creationId xmlns:a16="http://schemas.microsoft.com/office/drawing/2014/main" id="{52A80F08-1DBA-82EA-9A3D-FD780A6BB65A}"/>
              </a:ext>
            </a:extLst>
          </p:cNvPr>
          <p:cNvSpPr/>
          <p:nvPr/>
        </p:nvSpPr>
        <p:spPr>
          <a:xfrm>
            <a:off x="3441398" y="2418499"/>
            <a:ext cx="4873441" cy="960120"/>
          </a:xfrm>
          <a:prstGeom prst="rect">
            <a:avLst/>
          </a:prstGeom>
          <a:noFill/>
          <a:ln w="28575">
            <a:solidFill>
              <a:srgbClr val="18181C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600" dirty="0">
                <a:latin typeface="Trebuchet MS" panose="020B0603020202020204" pitchFamily="34" charset="0"/>
              </a:rPr>
              <a:t>TERRAINICA</a:t>
            </a:r>
            <a:endParaRPr lang="en-US" sz="5600" spc="600" dirty="0">
              <a:latin typeface="Trebuchet MS" panose="020B0603020202020204" pitchFamily="34" charset="0"/>
            </a:endParaRP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A0B474A-0C36-7242-7C47-32AAAA19BDB1}"/>
              </a:ext>
            </a:extLst>
          </p:cNvPr>
          <p:cNvSpPr/>
          <p:nvPr/>
        </p:nvSpPr>
        <p:spPr>
          <a:xfrm>
            <a:off x="4642514" y="3526074"/>
            <a:ext cx="2641687" cy="394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anose="020B0603020202020204" pitchFamily="34" charset="0"/>
              </a:rPr>
              <a:t>Land acquisition intelligence.</a:t>
            </a: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0FE5ACF9-F183-EFF0-4D91-5EFF53D858B7}"/>
              </a:ext>
            </a:extLst>
          </p:cNvPr>
          <p:cNvSpPr/>
          <p:nvPr/>
        </p:nvSpPr>
        <p:spPr>
          <a:xfrm>
            <a:off x="-30218" y="6626986"/>
            <a:ext cx="4168266" cy="25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28090"/>
                </a:solidFill>
              </a:rPr>
              <a:t>terrainica.com</a:t>
            </a: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B19F6786-0939-E8F4-2118-30FD85864538}"/>
              </a:ext>
            </a:extLst>
          </p:cNvPr>
          <p:cNvSpPr/>
          <p:nvPr/>
        </p:nvSpPr>
        <p:spPr>
          <a:xfrm>
            <a:off x="4386789" y="6553917"/>
            <a:ext cx="3029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2">
                    <a:lumMod val="25000"/>
                  </a:schemeClr>
                </a:solidFill>
              </a:rPr>
              <a:t>Start in Lithuania. Scale across Europe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C8E086-10C5-32EC-DB9D-CA5F3D7403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31" y="6548029"/>
            <a:ext cx="984076" cy="280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32512"/>
            <a:ext cx="8376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TEAM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497499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02C"/>
                </a:solidFill>
              </a:rPr>
              <a:t>Henry Otuadinma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018707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4A5568"/>
                </a:solidFill>
              </a:rPr>
              <a:t>Founder &amp; Product Developer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393611"/>
            <a:ext cx="530352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19" y="1535965"/>
            <a:ext cx="11430775" cy="2532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42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94949"/>
                </a:solidFill>
              </a:rPr>
              <a:t>Professional background in enterprise software engineering </a:t>
            </a:r>
          </a:p>
          <a:p>
            <a:pPr marL="285750" indent="-285750">
              <a:lnSpc>
                <a:spcPct val="142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94949"/>
                </a:solidFill>
              </a:rPr>
              <a:t>Built Terrainica end-to-end</a:t>
            </a:r>
          </a:p>
          <a:p>
            <a:pPr marL="285750" indent="-285750">
              <a:lnSpc>
                <a:spcPct val="142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94949"/>
                </a:solidFill>
              </a:rPr>
              <a:t>35+ state data integrations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5568"/>
                </a:solidFill>
              </a:rPr>
              <a:t>PostgreSQL/PostGIS geospatial database</a:t>
            </a:r>
          </a:p>
          <a:p>
            <a:pPr marL="285750" indent="-285750">
              <a:lnSpc>
                <a:spcPct val="142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5568"/>
                </a:solidFill>
              </a:rPr>
              <a:t>SQL-based deterministic decision engine, no black box model.</a:t>
            </a:r>
            <a:endParaRPr lang="en-US" sz="2000" dirty="0">
              <a:solidFill>
                <a:srgbClr val="494949"/>
              </a:solidFill>
            </a:endParaRPr>
          </a:p>
          <a:p>
            <a:pPr marL="0" indent="0">
              <a:lnSpc>
                <a:spcPct val="142000"/>
              </a:lnSpc>
              <a:buNone/>
            </a:pPr>
            <a:endParaRPr lang="en-US" sz="2000" dirty="0">
              <a:solidFill>
                <a:srgbClr val="4A5568"/>
              </a:solidFill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3010E4CD-B536-97F1-81D5-E6724A94760F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A3E46D-BA2B-DCD5-333B-8A69D4DBBE11}"/>
              </a:ext>
            </a:extLst>
          </p:cNvPr>
          <p:cNvSpPr txBox="1"/>
          <p:nvPr/>
        </p:nvSpPr>
        <p:spPr>
          <a:xfrm>
            <a:off x="541666" y="6358936"/>
            <a:ext cx="9377250" cy="36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2000"/>
              </a:lnSpc>
            </a:pPr>
            <a:r>
              <a:rPr lang="en-US" sz="1400" i="1" dirty="0">
                <a:solidFill>
                  <a:srgbClr val="4A5568"/>
                </a:solidFill>
              </a:rPr>
              <a:t>Terrainica combines enterprise software engineering and geospatial intelligence to streamline land acquisition decisions.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5B1223-FFD6-08B2-97ED-4C269E5C6052}"/>
              </a:ext>
            </a:extLst>
          </p:cNvPr>
          <p:cNvSpPr txBox="1"/>
          <p:nvPr/>
        </p:nvSpPr>
        <p:spPr>
          <a:xfrm>
            <a:off x="541665" y="4291503"/>
            <a:ext cx="6094708" cy="1226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rgbClr val="494949"/>
                </a:solidFill>
              </a:rPr>
              <a:t>Current support:</a:t>
            </a:r>
          </a:p>
          <a:p>
            <a:pPr>
              <a:lnSpc>
                <a:spcPct val="150000"/>
              </a:lnSpc>
              <a:buNone/>
            </a:pPr>
            <a:endParaRPr lang="en-US" sz="100" b="1" dirty="0">
              <a:solidFill>
                <a:srgbClr val="494949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sz="100" b="1" dirty="0">
              <a:solidFill>
                <a:srgbClr val="494949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sz="100" b="1" dirty="0">
              <a:solidFill>
                <a:srgbClr val="49494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94949"/>
                </a:solidFill>
              </a:rPr>
              <a:t>Vilnius Tech Business Accelerator Program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94949"/>
                </a:solidFill>
              </a:rPr>
              <a:t>Industry Validation through LNTPA engagement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DF61D1-3882-1B47-9151-FB806DD05C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31" y="6548029"/>
            <a:ext cx="984076" cy="2802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0448" y="109268"/>
            <a:ext cx="1775331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THE PROBLEM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57441"/>
            <a:ext cx="11155680" cy="1095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A202C"/>
                </a:solidFill>
              </a:rPr>
              <a:t>The most important decision in land acquisition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A202C"/>
                </a:solidFill>
              </a:rPr>
              <a:t>happens with the worst information.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23590" y="2893226"/>
            <a:ext cx="1990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</a:rPr>
              <a:t>15+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3789338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State registries a developer must check manually. RC, NTR, KPD, AAA, TPSV, UETK, OSM, Copernicus, and more. None of them talk to each other.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2893226"/>
            <a:ext cx="16459" cy="2148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82358" y="2893226"/>
            <a:ext cx="1990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</a:rPr>
              <a:t>3-6 wks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361688" y="3789338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To screen a single parcel before a purchase decision. In a competitive market, the best sites are gone in days.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19288" y="2893226"/>
            <a:ext cx="16459" cy="2148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41126" y="2893226"/>
            <a:ext cx="1990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</a:rPr>
              <a:t>€500+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0456" y="3789338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Per-parcel cost using architects or legal consultants for a pre-selection check before any formal due diligence has even started.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5160938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5252378"/>
            <a:ext cx="1115568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534381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The cost of getting it wrong: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5636426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A Lithuanian commercial developer who commits to a parcel with undiscovered planning restrictions faces project delays of 12 - 24 months, legal costs of €20,000 -100,000, and in severe cases total loss of acquisition investment. This happens every year, in every municipality. It is preventable.</a:t>
            </a:r>
            <a:endParaRPr lang="en-US" sz="105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304ADF70-4B4E-8C8F-2AFB-44A9A3093380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E5528D-49E1-9F00-3643-CDA8794EE3E4}"/>
              </a:ext>
            </a:extLst>
          </p:cNvPr>
          <p:cNvSpPr txBox="1"/>
          <p:nvPr/>
        </p:nvSpPr>
        <p:spPr>
          <a:xfrm>
            <a:off x="502920" y="2193134"/>
            <a:ext cx="11155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What if you spent six weeks evaluating a parcel only to discover it could never be developed?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8245EFB-8318-136E-DF54-28C69B67A2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31" y="6548029"/>
            <a:ext cx="984076" cy="2802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7CAC0-2C0D-F3F1-5658-D3CD8D64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072B113-40A3-0B52-3A4B-1719D9078691}"/>
              </a:ext>
            </a:extLst>
          </p:cNvPr>
          <p:cNvSpPr/>
          <p:nvPr/>
        </p:nvSpPr>
        <p:spPr>
          <a:xfrm>
            <a:off x="495170" y="179008"/>
            <a:ext cx="1868322" cy="351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WHY NOW?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B00D29-7DD1-137A-AFEE-0A76F0C89253}"/>
              </a:ext>
            </a:extLst>
          </p:cNvPr>
          <p:cNvSpPr/>
          <p:nvPr/>
        </p:nvSpPr>
        <p:spPr>
          <a:xfrm>
            <a:off x="502920" y="626444"/>
            <a:ext cx="10972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Land acquisition is a 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€500M+ information problem.</a:t>
            </a:r>
            <a:endParaRPr lang="en-US" sz="4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D3EF4E8-4B18-6FC4-C45A-550ACB70F9D4}"/>
              </a:ext>
            </a:extLst>
          </p:cNvPr>
          <p:cNvSpPr/>
          <p:nvPr/>
        </p:nvSpPr>
        <p:spPr>
          <a:xfrm>
            <a:off x="502920" y="237744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4C71B82-32CC-5983-D9EF-2AB28F9B35DF}"/>
              </a:ext>
            </a:extLst>
          </p:cNvPr>
          <p:cNvSpPr/>
          <p:nvPr/>
        </p:nvSpPr>
        <p:spPr>
          <a:xfrm>
            <a:off x="502920" y="25146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Commercial real estate transactions in Lithuania grew 25.8% in 2025. Prices rose 12.1% across major cities. Competition for the best parcels is intensifying. Most of those deals still begin with weeks of manual research across fifteen or more state registries - none of which talks to each other.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FFC498A-0D5C-DC37-B314-237274F52FF6}"/>
              </a:ext>
            </a:extLst>
          </p:cNvPr>
          <p:cNvSpPr/>
          <p:nvPr/>
        </p:nvSpPr>
        <p:spPr>
          <a:xfrm>
            <a:off x="502920" y="3566160"/>
            <a:ext cx="3566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51C763-B2AC-81F9-D0EB-2280973123B0}"/>
              </a:ext>
            </a:extLst>
          </p:cNvPr>
          <p:cNvSpPr/>
          <p:nvPr/>
        </p:nvSpPr>
        <p:spPr>
          <a:xfrm>
            <a:off x="502920" y="3675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</a:rPr>
              <a:t>Market is hot and competitive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8F644EB-E8F3-1B55-2B13-7DA4CAF8FF33}"/>
              </a:ext>
            </a:extLst>
          </p:cNvPr>
          <p:cNvSpPr/>
          <p:nvPr/>
        </p:nvSpPr>
        <p:spPr>
          <a:xfrm>
            <a:off x="502920" y="4114800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In a fast-moving market, the developer with faster information wins deals. The cost of slow pre-acquisition is rising in direct proportion to market activity.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0793C39-05E5-B85F-D41B-CCDD3451B82A}"/>
              </a:ext>
            </a:extLst>
          </p:cNvPr>
          <p:cNvSpPr/>
          <p:nvPr/>
        </p:nvSpPr>
        <p:spPr>
          <a:xfrm>
            <a:off x="4142232" y="3566160"/>
            <a:ext cx="16459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72646D6-B1FF-5C53-EB08-4273B57997A8}"/>
              </a:ext>
            </a:extLst>
          </p:cNvPr>
          <p:cNvSpPr/>
          <p:nvPr/>
        </p:nvSpPr>
        <p:spPr>
          <a:xfrm>
            <a:off x="4361688" y="3566160"/>
            <a:ext cx="3566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EFC2657-C629-556B-CF3A-65C2F8498D55}"/>
              </a:ext>
            </a:extLst>
          </p:cNvPr>
          <p:cNvSpPr/>
          <p:nvPr/>
        </p:nvSpPr>
        <p:spPr>
          <a:xfrm>
            <a:off x="4361688" y="3675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</a:rPr>
              <a:t>No software product existed for this</a:t>
            </a:r>
            <a:endParaRPr lang="en-US" sz="13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5D866B3-1E69-B712-300C-31A1768F932F}"/>
              </a:ext>
            </a:extLst>
          </p:cNvPr>
          <p:cNvSpPr/>
          <p:nvPr/>
        </p:nvSpPr>
        <p:spPr>
          <a:xfrm>
            <a:off x="4361688" y="4114800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Zero commercial-grade pre-acquisition intelligence platforms existed in Lithuania before Terrainica.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9D8F5D3-E154-700D-E491-428918E8F682}"/>
              </a:ext>
            </a:extLst>
          </p:cNvPr>
          <p:cNvSpPr/>
          <p:nvPr/>
        </p:nvSpPr>
        <p:spPr>
          <a:xfrm>
            <a:off x="8001000" y="3566160"/>
            <a:ext cx="16459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C972DDC-E3BA-6399-1369-1D4734FA4343}"/>
              </a:ext>
            </a:extLst>
          </p:cNvPr>
          <p:cNvSpPr/>
          <p:nvPr/>
        </p:nvSpPr>
        <p:spPr>
          <a:xfrm>
            <a:off x="8220456" y="3566160"/>
            <a:ext cx="3566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090CAC5-0782-91F9-5A7C-E6437355A3F9}"/>
              </a:ext>
            </a:extLst>
          </p:cNvPr>
          <p:cNvSpPr/>
          <p:nvPr/>
        </p:nvSpPr>
        <p:spPr>
          <a:xfrm>
            <a:off x="8220456" y="3675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</a:rPr>
              <a:t>State data is now accessible</a:t>
            </a:r>
            <a:endParaRPr lang="en-US" sz="13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5F26A9B-D6AA-1E12-7F6B-8C39ECDAFCC3}"/>
              </a:ext>
            </a:extLst>
          </p:cNvPr>
          <p:cNvSpPr/>
          <p:nvPr/>
        </p:nvSpPr>
        <p:spPr>
          <a:xfrm>
            <a:off x="8220456" y="4114800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RC, NTR, KPD, AAA, TPSV, UETK, and 30+ more Lithuanian state registries now expose machine-readable data. The technical layer that makes Terrainica possible just became viable.</a:t>
            </a:r>
            <a:endParaRPr lang="en-US" sz="110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9D53DF88-78BD-9F12-82E6-6BE6616D2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19" name="Text 7">
            <a:extLst>
              <a:ext uri="{FF2B5EF4-FFF2-40B4-BE49-F238E27FC236}">
                <a16:creationId xmlns:a16="http://schemas.microsoft.com/office/drawing/2014/main" id="{85148645-FBA8-642F-976E-B59A8384C719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384EAA-71F5-0A3D-83E5-08F02F82FB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31" y="6548029"/>
            <a:ext cx="984076" cy="28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11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19" y="163511"/>
            <a:ext cx="12948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PRODUCT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18696"/>
            <a:ext cx="11384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4000" b="1" dirty="0"/>
              <a:t>Terrainica transforms weeks of fragmented research into acquisition intelligence in under 10 seconds.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2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pc="300" dirty="0">
                <a:solidFill>
                  <a:srgbClr val="028090"/>
                </a:solidFill>
              </a:rPr>
              <a:t>SPEED</a:t>
            </a:r>
            <a:endParaRPr lang="en-US" sz="1200" spc="300" dirty="0">
              <a:solidFill>
                <a:srgbClr val="02809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24963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C"/>
                </a:solidFill>
              </a:rPr>
              <a:t>&lt; 10-second intelligence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02920" y="2944368"/>
            <a:ext cx="53949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4A5568"/>
                </a:solidFill>
              </a:rPr>
              <a:t>Score any of </a:t>
            </a:r>
            <a:r>
              <a:rPr lang="en-US" sz="1200" b="1" dirty="0">
                <a:solidFill>
                  <a:srgbClr val="4A5568"/>
                </a:solidFill>
              </a:rPr>
              <a:t>835,777</a:t>
            </a:r>
            <a:r>
              <a:rPr lang="en-US" sz="1200" dirty="0">
                <a:solidFill>
                  <a:srgbClr val="4A5568"/>
                </a:solidFill>
              </a:rPr>
              <a:t> Lithuanian parcels. </a:t>
            </a:r>
            <a:r>
              <a:rPr lang="en-US" sz="1200" b="1" dirty="0">
                <a:solidFill>
                  <a:srgbClr val="4A5568"/>
                </a:solidFill>
              </a:rPr>
              <a:t>11 signals</a:t>
            </a:r>
            <a:r>
              <a:rPr lang="en-US" sz="1200" dirty="0">
                <a:solidFill>
                  <a:srgbClr val="4A5568"/>
                </a:solidFill>
              </a:rPr>
              <a:t> from </a:t>
            </a:r>
            <a:r>
              <a:rPr lang="en-US" sz="1200" b="1" dirty="0">
                <a:solidFill>
                  <a:srgbClr val="4A5568"/>
                </a:solidFill>
              </a:rPr>
              <a:t>35+ state sources</a:t>
            </a:r>
            <a:r>
              <a:rPr lang="en-US" sz="1200" dirty="0">
                <a:solidFill>
                  <a:srgbClr val="4A5568"/>
                </a:solidFill>
              </a:rPr>
              <a:t> computed instantly. </a:t>
            </a:r>
            <a:r>
              <a:rPr lang="en-US" sz="1200" b="1" dirty="0">
                <a:solidFill>
                  <a:srgbClr val="1A202C"/>
                </a:solidFill>
              </a:rPr>
              <a:t>Risk flags</a:t>
            </a:r>
            <a:r>
              <a:rPr lang="en-US" sz="1200" dirty="0">
                <a:solidFill>
                  <a:srgbClr val="1A202C"/>
                </a:solidFill>
              </a:rPr>
              <a:t> surfaced instantly</a:t>
            </a:r>
            <a:r>
              <a:rPr lang="en-US" sz="1200" dirty="0">
                <a:solidFill>
                  <a:srgbClr val="4A5568"/>
                </a:solidFill>
              </a:rPr>
              <a:t>. </a:t>
            </a:r>
            <a:r>
              <a:rPr lang="en-US" sz="1200" b="1" dirty="0">
                <a:solidFill>
                  <a:srgbClr val="4A5568"/>
                </a:solidFill>
              </a:rPr>
              <a:t>Composite score 0 - 100</a:t>
            </a:r>
            <a:r>
              <a:rPr lang="en-US" sz="1200" dirty="0">
                <a:solidFill>
                  <a:srgbClr val="4A5568"/>
                </a:solidFill>
              </a:rPr>
              <a:t>.  Sub-10-second end-to-end: </a:t>
            </a:r>
            <a:r>
              <a:rPr lang="en-US" sz="1200" b="1" dirty="0">
                <a:solidFill>
                  <a:srgbClr val="4A5568"/>
                </a:solidFill>
              </a:rPr>
              <a:t>parcel ID to bilingual PDF report</a:t>
            </a:r>
            <a:r>
              <a:rPr lang="en-US" sz="1200" dirty="0">
                <a:solidFill>
                  <a:srgbClr val="4A5568"/>
                </a:solidFill>
              </a:rPr>
              <a:t>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9048" y="2148840"/>
            <a:ext cx="16459" cy="19202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06669" y="2148840"/>
            <a:ext cx="1193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DISCOVERY</a:t>
            </a:r>
            <a:endParaRPr lang="en-US" sz="12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50319" y="2496312"/>
            <a:ext cx="28773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C"/>
                </a:solidFill>
              </a:rPr>
              <a:t>Opportunity feed on login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309360" y="2944368"/>
            <a:ext cx="53949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303580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Buildable parcels ranked by signal score, surfaced by category (strong acquisition candidates, distressed land, conversion potential, NTR pre-registration, etc.) before a user enters a single ID.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5688" y="4211973"/>
            <a:ext cx="112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SCALE</a:t>
            </a:r>
            <a:endParaRPr lang="en-US" sz="12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448970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C"/>
                </a:solidFill>
              </a:rPr>
              <a:t>Batch evaluation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949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5029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Upload a list of hundreds of parcels. Score them all simultaneously. Download batch PDF reports. A full portfolio screening that previously took weeks now takes minutes.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9048" y="4142232"/>
            <a:ext cx="16459" cy="19202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06669" y="4211973"/>
            <a:ext cx="12908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MONITORING</a:t>
            </a:r>
            <a:endParaRPr lang="en-US" sz="12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50319" y="4489704"/>
            <a:ext cx="28773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C"/>
                </a:solidFill>
              </a:rPr>
              <a:t>Watchlist + change alerts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309360" y="4937760"/>
            <a:ext cx="53949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5029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Pin any parcel. Receive automatic notifications when state register changes affect it:  new planning constraints, ownership changes, encumbrances, or score movement.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Plus</a:t>
            </a:r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Scoring profile customisation  ·  Sell-intent signals  ·  Continuous register monitoring</a:t>
            </a:r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30" name="Text 7">
            <a:extLst>
              <a:ext uri="{FF2B5EF4-FFF2-40B4-BE49-F238E27FC236}">
                <a16:creationId xmlns:a16="http://schemas.microsoft.com/office/drawing/2014/main" id="{2A284026-D41B-7C23-84FF-D348DF4AF36C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CBC870-C3FC-72C0-F843-8A4C52E7AA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31" y="6548029"/>
            <a:ext cx="984076" cy="2802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19" y="48825"/>
            <a:ext cx="2120247" cy="20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WHAT IT LOOKS LIKE 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9923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589F6D77-ABAD-0C74-EEA3-9B467D3E9B52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F3653DE-187F-294D-7DCF-C789ACF4D4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372"/>
          <a:stretch>
            <a:fillRect/>
          </a:stretch>
        </p:blipFill>
        <p:spPr>
          <a:xfrm>
            <a:off x="1137707" y="422573"/>
            <a:ext cx="4882819" cy="298370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B371682-B8FF-12CD-2D52-43C685684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666" y="299231"/>
            <a:ext cx="4544648" cy="30078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8D65105-DDF6-01EE-74F0-36D9A6CEC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098" y="3575158"/>
            <a:ext cx="5675882" cy="324212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DF45C02-79C5-9D1F-C9AE-CDA93FDF4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7666" y="3230880"/>
            <a:ext cx="4651958" cy="3524408"/>
          </a:xfrm>
          <a:prstGeom prst="rect">
            <a:avLst/>
          </a:prstGeom>
        </p:spPr>
      </p:pic>
      <p:sp>
        <p:nvSpPr>
          <p:cNvPr id="35" name="Text 19">
            <a:extLst>
              <a:ext uri="{FF2B5EF4-FFF2-40B4-BE49-F238E27FC236}">
                <a16:creationId xmlns:a16="http://schemas.microsoft.com/office/drawing/2014/main" id="{461FD5CA-EC15-E99C-E3AA-409DF3189E6B}"/>
              </a:ext>
            </a:extLst>
          </p:cNvPr>
          <p:cNvSpPr/>
          <p:nvPr/>
        </p:nvSpPr>
        <p:spPr>
          <a:xfrm>
            <a:off x="59954" y="4103576"/>
            <a:ext cx="865399" cy="272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b="1" dirty="0">
                <a:solidFill>
                  <a:srgbClr val="4A5568"/>
                </a:solidFill>
              </a:rPr>
              <a:t>Map View</a:t>
            </a:r>
            <a:endParaRPr lang="en-US" sz="1200" b="1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1F354E5F-E66F-36CA-5DDC-0AA30C860F4D}"/>
              </a:ext>
            </a:extLst>
          </p:cNvPr>
          <p:cNvSpPr/>
          <p:nvPr/>
        </p:nvSpPr>
        <p:spPr>
          <a:xfrm>
            <a:off x="25003" y="1154383"/>
            <a:ext cx="1176690" cy="544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b="1" dirty="0">
                <a:solidFill>
                  <a:srgbClr val="4A5568"/>
                </a:solidFill>
              </a:rPr>
              <a:t>Opportunities View</a:t>
            </a:r>
            <a:endParaRPr lang="en-US" sz="1200" b="1" dirty="0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954448AF-3D39-D311-C523-3CE498D0B685}"/>
              </a:ext>
            </a:extLst>
          </p:cNvPr>
          <p:cNvSpPr/>
          <p:nvPr/>
        </p:nvSpPr>
        <p:spPr>
          <a:xfrm>
            <a:off x="6297226" y="720087"/>
            <a:ext cx="1627574" cy="43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b="1" dirty="0">
                <a:solidFill>
                  <a:srgbClr val="4A5568"/>
                </a:solidFill>
              </a:rPr>
              <a:t>Single parcel Evaluation result</a:t>
            </a:r>
            <a:endParaRPr lang="en-US" sz="12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54AADD-EF4B-B813-6A04-7D09FA0B92B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31" y="6548029"/>
            <a:ext cx="984076" cy="280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34E62-B9C8-EE57-3835-CD7321986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10FE6B6-95D2-BED6-037C-4EED9CDF6C6F}"/>
              </a:ext>
            </a:extLst>
          </p:cNvPr>
          <p:cNvSpPr/>
          <p:nvPr/>
        </p:nvSpPr>
        <p:spPr>
          <a:xfrm>
            <a:off x="502919" y="140265"/>
            <a:ext cx="1809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PRODUCT STATUS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F59C0A-3E32-47AB-5ECC-71E715C4478A}"/>
              </a:ext>
            </a:extLst>
          </p:cNvPr>
          <p:cNvSpPr/>
          <p:nvPr/>
        </p:nvSpPr>
        <p:spPr>
          <a:xfrm>
            <a:off x="502920" y="587698"/>
            <a:ext cx="10058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Industry validated.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Product live.</a:t>
            </a:r>
            <a:endParaRPr lang="en-US" sz="4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5DF3784-AC0B-E0F8-A05F-176449FEFDD5}"/>
              </a:ext>
            </a:extLst>
          </p:cNvPr>
          <p:cNvSpPr/>
          <p:nvPr/>
        </p:nvSpPr>
        <p:spPr>
          <a:xfrm>
            <a:off x="502920" y="210312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FA756F6-CC46-821D-AAC6-8F1C714552A4}"/>
              </a:ext>
            </a:extLst>
          </p:cNvPr>
          <p:cNvSpPr/>
          <p:nvPr/>
        </p:nvSpPr>
        <p:spPr>
          <a:xfrm>
            <a:off x="502920" y="2267712"/>
            <a:ext cx="11155680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FB0B2AD-7581-E5C6-FBFE-9B5A4A0BDC9C}"/>
              </a:ext>
            </a:extLst>
          </p:cNvPr>
          <p:cNvSpPr/>
          <p:nvPr/>
        </p:nvSpPr>
        <p:spPr>
          <a:xfrm>
            <a:off x="502920" y="2267712"/>
            <a:ext cx="50292" cy="1207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306EDE2-D016-1205-9DF7-A740FDF4F0F6}"/>
              </a:ext>
            </a:extLst>
          </p:cNvPr>
          <p:cNvSpPr/>
          <p:nvPr/>
        </p:nvSpPr>
        <p:spPr>
          <a:xfrm>
            <a:off x="713232" y="23591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8090"/>
                </a:solidFill>
              </a:rPr>
              <a:t>INDUSTRY VALIDATION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7E66DD8-B33C-E54D-0CD5-FE667C0A4477}"/>
              </a:ext>
            </a:extLst>
          </p:cNvPr>
          <p:cNvSpPr/>
          <p:nvPr/>
        </p:nvSpPr>
        <p:spPr>
          <a:xfrm>
            <a:off x="713232" y="260604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2000"/>
              </a:lnSpc>
            </a:pPr>
            <a:r>
              <a:rPr lang="en-US" sz="1300" dirty="0">
                <a:solidFill>
                  <a:srgbClr val="1A202C"/>
                </a:solidFill>
              </a:rPr>
              <a:t>Validated by  the President of Lithuanian Real Estate Development Association (LNTPA), the professional body representing the industry Terrainica serves - at a dedicated platform evaluation session.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6C5B58C-36D9-8E25-209F-7D73F3440D4C}"/>
              </a:ext>
            </a:extLst>
          </p:cNvPr>
          <p:cNvSpPr/>
          <p:nvPr/>
        </p:nvSpPr>
        <p:spPr>
          <a:xfrm>
            <a:off x="502920" y="36758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</a:rPr>
              <a:t>835,777</a:t>
            </a:r>
            <a:endParaRPr lang="en-US" sz="4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3BD0997-C316-3F38-3840-1D731315ADA8}"/>
              </a:ext>
            </a:extLst>
          </p:cNvPr>
          <p:cNvSpPr/>
          <p:nvPr/>
        </p:nvSpPr>
        <p:spPr>
          <a:xfrm>
            <a:off x="502920" y="4462272"/>
            <a:ext cx="21121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Lithuanian land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parcels indexed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DA2579F-2CFE-05B4-5B59-26076860A348}"/>
              </a:ext>
            </a:extLst>
          </p:cNvPr>
          <p:cNvSpPr/>
          <p:nvPr/>
        </p:nvSpPr>
        <p:spPr>
          <a:xfrm>
            <a:off x="3209544" y="3675888"/>
            <a:ext cx="16459" cy="1325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490D00C-23E6-30C3-B0FB-4167DAE006B3}"/>
              </a:ext>
            </a:extLst>
          </p:cNvPr>
          <p:cNvSpPr/>
          <p:nvPr/>
        </p:nvSpPr>
        <p:spPr>
          <a:xfrm>
            <a:off x="3410712" y="36758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</a:rPr>
              <a:t>35+</a:t>
            </a:r>
            <a:endParaRPr lang="en-US" sz="4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5FC8B9F-038A-C443-4690-8E909A760C1E}"/>
              </a:ext>
            </a:extLst>
          </p:cNvPr>
          <p:cNvSpPr/>
          <p:nvPr/>
        </p:nvSpPr>
        <p:spPr>
          <a:xfrm>
            <a:off x="3410712" y="4318689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Live state data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sources integrated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1122F9D-2A69-4A90-F4D2-D38F812C1B20}"/>
              </a:ext>
            </a:extLst>
          </p:cNvPr>
          <p:cNvSpPr/>
          <p:nvPr/>
        </p:nvSpPr>
        <p:spPr>
          <a:xfrm>
            <a:off x="6117336" y="3675888"/>
            <a:ext cx="16459" cy="1325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FCA427-89ED-3799-C16C-24E87EF088BD}"/>
              </a:ext>
            </a:extLst>
          </p:cNvPr>
          <p:cNvSpPr/>
          <p:nvPr/>
        </p:nvSpPr>
        <p:spPr>
          <a:xfrm>
            <a:off x="6212706" y="3675888"/>
            <a:ext cx="2743200" cy="539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</a:rPr>
              <a:t>Evaluate</a:t>
            </a:r>
            <a:endParaRPr lang="en-US" sz="4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9162C51-5C25-F5D8-B5CB-14FE84E29596}"/>
              </a:ext>
            </a:extLst>
          </p:cNvPr>
          <p:cNvSpPr/>
          <p:nvPr/>
        </p:nvSpPr>
        <p:spPr>
          <a:xfrm>
            <a:off x="6212705" y="4318689"/>
            <a:ext cx="243961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4A5568"/>
                </a:solidFill>
              </a:rPr>
              <a:t>Single or bulk parcel evaluation via CSV upload or from opportunities feeds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22067A2-9C55-6DE9-9A9C-7FDC46E14AAD}"/>
              </a:ext>
            </a:extLst>
          </p:cNvPr>
          <p:cNvSpPr/>
          <p:nvPr/>
        </p:nvSpPr>
        <p:spPr>
          <a:xfrm>
            <a:off x="8919330" y="3675888"/>
            <a:ext cx="16459" cy="1325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F2ACA3B-78F1-87DF-BEE0-A8953B565FF1}"/>
              </a:ext>
            </a:extLst>
          </p:cNvPr>
          <p:cNvSpPr/>
          <p:nvPr/>
        </p:nvSpPr>
        <p:spPr>
          <a:xfrm>
            <a:off x="9226296" y="3675888"/>
            <a:ext cx="2373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00" b="1" dirty="0">
                <a:solidFill>
                  <a:srgbClr val="028090"/>
                </a:solidFill>
              </a:rPr>
              <a:t>Reporting</a:t>
            </a:r>
            <a:endParaRPr lang="en-US" sz="4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2DF1EF6-8393-C3BD-7224-DF6B2F6531BC}"/>
              </a:ext>
            </a:extLst>
          </p:cNvPr>
          <p:cNvSpPr/>
          <p:nvPr/>
        </p:nvSpPr>
        <p:spPr>
          <a:xfrm>
            <a:off x="8954242" y="4394259"/>
            <a:ext cx="2961841" cy="539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4A5568"/>
                </a:solidFill>
              </a:rPr>
              <a:t>Single or bulk bilingual reports with Seller motivation, Buildability assessment, Constraints, Signal Details, Dated data sources, etc.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FF82662-432D-9DC3-37EF-5AD7D0BDF67C}"/>
              </a:ext>
            </a:extLst>
          </p:cNvPr>
          <p:cNvSpPr/>
          <p:nvPr/>
        </p:nvSpPr>
        <p:spPr>
          <a:xfrm>
            <a:off x="502920" y="5102352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8F6C504-5C8C-6E6C-C39C-FF2384C265DC}"/>
              </a:ext>
            </a:extLst>
          </p:cNvPr>
          <p:cNvSpPr/>
          <p:nvPr/>
        </p:nvSpPr>
        <p:spPr>
          <a:xfrm>
            <a:off x="502920" y="5184648"/>
            <a:ext cx="4235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map view for faster visual evaluations within a location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B29251A-0FE8-B75E-13EB-310EA5BF22B7}"/>
              </a:ext>
            </a:extLst>
          </p:cNvPr>
          <p:cNvSpPr/>
          <p:nvPr/>
        </p:nvSpPr>
        <p:spPr>
          <a:xfrm>
            <a:off x="7223760" y="5577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 paying enterprise customer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ECD1E6C-8901-C786-392D-F9E999E3D866}"/>
              </a:ext>
            </a:extLst>
          </p:cNvPr>
          <p:cNvSpPr/>
          <p:nvPr/>
        </p:nvSpPr>
        <p:spPr>
          <a:xfrm>
            <a:off x="10058400" y="5650992"/>
            <a:ext cx="137160" cy="13716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A8DCCED9-13EF-0E53-1941-4E86A9FD0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C54D102F-E1FD-B0EF-44E8-37CB5116E3AE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6BE9A5-536A-F61E-526A-3ADA3FDDE5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31" y="6548029"/>
            <a:ext cx="984076" cy="28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98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1444" y="124764"/>
            <a:ext cx="289121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WHO USES TERRAINICA?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77438"/>
            <a:ext cx="11384280" cy="1368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1A202C"/>
                </a:solidFill>
              </a:rPr>
              <a:t>People working in one of real estate's most fragmented sectors.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2029968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37" name="Text 7">
            <a:extLst>
              <a:ext uri="{FF2B5EF4-FFF2-40B4-BE49-F238E27FC236}">
                <a16:creationId xmlns:a16="http://schemas.microsoft.com/office/drawing/2014/main" id="{C86398F5-88F5-F354-0333-94A101837AC7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471474-F93B-7C08-E3BD-2CC5FAA8F087}"/>
              </a:ext>
            </a:extLst>
          </p:cNvPr>
          <p:cNvSpPr txBox="1"/>
          <p:nvPr/>
        </p:nvSpPr>
        <p:spPr>
          <a:xfrm>
            <a:off x="697765" y="2941084"/>
            <a:ext cx="44416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Commercial property developers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Land acquisition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 estate investment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0A7BB5-287F-5DB6-958F-DF9CA08E6C5E}"/>
              </a:ext>
            </a:extLst>
          </p:cNvPr>
          <p:cNvSpPr txBox="1"/>
          <p:nvPr/>
        </p:nvSpPr>
        <p:spPr>
          <a:xfrm>
            <a:off x="7113050" y="2941084"/>
            <a:ext cx="34365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Planning consultants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Architects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Land investors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Aspiring homeowners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84F9CC-0A9D-4F97-00ED-8ED773FF5872}"/>
              </a:ext>
            </a:extLst>
          </p:cNvPr>
          <p:cNvSpPr txBox="1"/>
          <p:nvPr/>
        </p:nvSpPr>
        <p:spPr>
          <a:xfrm>
            <a:off x="4362287" y="5429034"/>
            <a:ext cx="29755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Municipalities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Infrastructure developers</a:t>
            </a: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757F6490-0E23-B3BC-29C6-F095B9DB514D}"/>
              </a:ext>
            </a:extLst>
          </p:cNvPr>
          <p:cNvSpPr/>
          <p:nvPr/>
        </p:nvSpPr>
        <p:spPr>
          <a:xfrm>
            <a:off x="1031911" y="2374156"/>
            <a:ext cx="205891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Primary</a:t>
            </a:r>
            <a:endParaRPr lang="en-US" sz="2800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4DAEAB7E-03B1-AB02-1832-3E02B61F1951}"/>
              </a:ext>
            </a:extLst>
          </p:cNvPr>
          <p:cNvSpPr/>
          <p:nvPr/>
        </p:nvSpPr>
        <p:spPr>
          <a:xfrm>
            <a:off x="7052594" y="2374156"/>
            <a:ext cx="25001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Secondary</a:t>
            </a:r>
            <a:endParaRPr lang="en-US" sz="28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E4C4CC9A-CB75-27AB-142E-E189E37B66EC}"/>
              </a:ext>
            </a:extLst>
          </p:cNvPr>
          <p:cNvSpPr/>
          <p:nvPr/>
        </p:nvSpPr>
        <p:spPr>
          <a:xfrm>
            <a:off x="4550583" y="4862106"/>
            <a:ext cx="166884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Future</a:t>
            </a:r>
            <a:endParaRPr lang="en-US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78CAB1-60EC-AA3F-6B19-E3EAB98AA5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31" y="6548029"/>
            <a:ext cx="984076" cy="2802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93694" y="117011"/>
            <a:ext cx="2248029" cy="192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BUSINESS MODEL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41203"/>
            <a:ext cx="10972800" cy="1155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02C"/>
                </a:solidFill>
              </a:rPr>
              <a:t>Four revenue streams. 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1A202C"/>
                </a:solidFill>
              </a:rPr>
              <a:t>One platform.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2099707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3845" y="2264299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671903" y="2310019"/>
            <a:ext cx="56692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2671903" y="2310019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886091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02C"/>
                </a:solidFill>
              </a:rPr>
              <a:t>Credits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3270139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361579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€50 / report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745627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Pay-per-use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047379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138819"/>
            <a:ext cx="2743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Low-friction entry. Individual report generation for occasional users or first-time evaluations. No commitment required.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2264299"/>
            <a:ext cx="16459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61637" y="2264299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2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579695" y="2310019"/>
            <a:ext cx="56692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79695" y="2310019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0712" y="2886091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02C"/>
                </a:solidFill>
              </a:rPr>
              <a:t>Professional SaaS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410712" y="3270139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10712" y="3361579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€500 / month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10712" y="3745627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€6,000 / year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10712" y="4047379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10712" y="4138819"/>
            <a:ext cx="2743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Full platform access. Unlimited parcel scoring, batch evaluation, watchlist, opportunity feed, and scoring profile customisation. Billed annually.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99632" y="2264299"/>
            <a:ext cx="16459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69429" y="2264299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3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8487487" y="2310019"/>
            <a:ext cx="56692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87487" y="2310019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18504" y="2886091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02C"/>
                </a:solidFill>
              </a:rPr>
              <a:t>Enterprise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318504" y="3270139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66126" y="3361579"/>
            <a:ext cx="11149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Custom 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33618" y="3738070"/>
            <a:ext cx="19875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Until pricing is validated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18504" y="4047379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18504" y="4138819"/>
            <a:ext cx="2743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API access + white-label reporting + custom data integrations + volume SLA. Designed for RE investment funds and large developer groups screening 1,000+ parcels/month.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07424" y="2264299"/>
            <a:ext cx="16459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877221" y="2264299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4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11031076" y="2310019"/>
            <a:ext cx="914400" cy="2011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031076" y="2310019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25000"/>
                  </a:schemeClr>
                </a:solidFill>
              </a:rPr>
              <a:t>PHASE 2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9226296" y="2886091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02C"/>
                </a:solidFill>
              </a:rPr>
              <a:t>Marketplace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9226296" y="3270139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226296" y="3361579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2 - 5% commission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226296" y="3745627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Network effect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226296" y="4047379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226296" y="4138819"/>
            <a:ext cx="2743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Pre-qualified land listings with embedded scores. Developers pay credits to contact verified motivated sellers. Supply sourced from continuous register monitoring.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02920" y="5784739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49" name="Text 7">
            <a:extLst>
              <a:ext uri="{FF2B5EF4-FFF2-40B4-BE49-F238E27FC236}">
                <a16:creationId xmlns:a16="http://schemas.microsoft.com/office/drawing/2014/main" id="{3D1B5444-0198-3F0A-2D1D-B4F960F34E17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35E8C7-C805-8994-137B-57D4AD69C2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31" y="6548029"/>
            <a:ext cx="984076" cy="2802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2182" y="131612"/>
            <a:ext cx="2929955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COMPETITIVE LANDSCAPE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742152"/>
            <a:ext cx="10408842" cy="887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Terrainica lets you know a site won’t work before you spend on finding out.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09679" y="2075688"/>
            <a:ext cx="10302083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225040"/>
            <a:ext cx="10629900" cy="468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2000"/>
              </a:lnSpc>
            </a:pPr>
            <a:r>
              <a:rPr lang="en-US" sz="1150" dirty="0">
                <a:solidFill>
                  <a:srgbClr val="4A5568"/>
                </a:solidFill>
              </a:rPr>
              <a:t>GIS consultants take days and cost €1,000+. Public registers require technical expertise and separate logins for each. </a:t>
            </a:r>
            <a:r>
              <a:rPr lang="en-US" sz="1200" dirty="0"/>
              <a:t>Terrainica combines screening, discovery, monitoring, and portfolio analysis into a single acquisition workflow</a:t>
            </a:r>
            <a:r>
              <a:rPr lang="en-US" sz="1150" dirty="0">
                <a:solidFill>
                  <a:srgbClr val="4A5568"/>
                </a:solidFill>
              </a:rPr>
              <a:t>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09010" y="3271284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Manual / consultant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66732" y="3271284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GIS consultant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13626" y="3271284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Public registers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77393" y="3271284"/>
            <a:ext cx="16916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pc="300" dirty="0"/>
          </a:p>
        </p:txBody>
      </p:sp>
      <p:sp>
        <p:nvSpPr>
          <p:cNvPr id="13" name="Text 11"/>
          <p:cNvSpPr/>
          <p:nvPr/>
        </p:nvSpPr>
        <p:spPr>
          <a:xfrm>
            <a:off x="8877393" y="3271284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spc="300" dirty="0">
                <a:solidFill>
                  <a:srgbClr val="FFFFFF"/>
                </a:solidFill>
              </a:rPr>
              <a:t>TERRAINICA</a:t>
            </a:r>
            <a:endParaRPr lang="en-US" sz="1200" spc="300" dirty="0"/>
          </a:p>
        </p:txBody>
      </p:sp>
      <p:sp>
        <p:nvSpPr>
          <p:cNvPr id="14" name="Shape 12"/>
          <p:cNvSpPr/>
          <p:nvPr/>
        </p:nvSpPr>
        <p:spPr>
          <a:xfrm>
            <a:off x="1266449" y="3609612"/>
            <a:ext cx="9326342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67936" y="367362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Target user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09010" y="36736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Professional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6732" y="367362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Specialist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13626" y="367362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Expert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77393" y="367362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2C"/>
                </a:solidFill>
              </a:rPr>
              <a:t>Commercial developer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66449" y="4021092"/>
            <a:ext cx="9326342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67936" y="4075956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Composite score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09010" y="4075956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3333"/>
                </a:solidFill>
              </a:rPr>
              <a:t>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6732" y="407595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3333"/>
                </a:solidFill>
              </a:rPr>
              <a:t>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13626" y="407595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3333"/>
                </a:solidFill>
              </a:rPr>
              <a:t>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77393" y="407595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✓  11 signals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266449" y="4423428"/>
            <a:ext cx="9326342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67936" y="447829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Speed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909010" y="447829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Days-</a:t>
            </a:r>
            <a:r>
              <a:rPr lang="en-US" sz="1200" dirty="0" err="1">
                <a:solidFill>
                  <a:srgbClr val="4A5568"/>
                </a:solidFill>
              </a:rPr>
              <a:t>wks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66732" y="447829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Days-</a:t>
            </a:r>
            <a:r>
              <a:rPr lang="en-US" sz="1200" dirty="0" err="1">
                <a:solidFill>
                  <a:srgbClr val="4A5568"/>
                </a:solidFill>
              </a:rPr>
              <a:t>wks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13626" y="447829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Hours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877393" y="447829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2C"/>
                </a:solidFill>
              </a:rPr>
              <a:t>&lt; 10 seconds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266449" y="4825764"/>
            <a:ext cx="9326342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67936" y="488062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Batch / portfolio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909010" y="4880628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3333"/>
                </a:solidFill>
              </a:rPr>
              <a:t>✗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66732" y="488062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3333"/>
                </a:solidFill>
              </a:rPr>
              <a:t>✗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13626" y="488062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3333"/>
                </a:solidFill>
              </a:rPr>
              <a:t>✗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877393" y="488062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✓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266449" y="5228100"/>
            <a:ext cx="9326342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167936" y="528296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Opportunity feed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909010" y="528296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3333"/>
                </a:solidFill>
              </a:rPr>
              <a:t>✗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66732" y="528296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3333"/>
                </a:solidFill>
              </a:rPr>
              <a:t>✗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13626" y="528296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3333"/>
                </a:solidFill>
              </a:rPr>
              <a:t>✗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877393" y="528296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✓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266449" y="5630436"/>
            <a:ext cx="9326342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167936" y="568530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Watchlist + alerts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909010" y="568530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3333"/>
                </a:solidFill>
              </a:rPr>
              <a:t>✗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866732" y="568530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3333"/>
                </a:solidFill>
              </a:rPr>
              <a:t>✗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913626" y="568530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3333"/>
                </a:solidFill>
              </a:rPr>
              <a:t>✗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877393" y="568530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✓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266449" y="6032772"/>
            <a:ext cx="9326342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167936" y="6087636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Cost / parcel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909010" y="6087636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€300+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866732" y="608763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€50-200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913626" y="608763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Hours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877393" y="608763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2C"/>
                </a:solidFill>
              </a:rPr>
              <a:t>Fraction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1266449" y="6435108"/>
            <a:ext cx="9326342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72" name="Text 7">
            <a:extLst>
              <a:ext uri="{FF2B5EF4-FFF2-40B4-BE49-F238E27FC236}">
                <a16:creationId xmlns:a16="http://schemas.microsoft.com/office/drawing/2014/main" id="{E2A2B2C2-22E7-2F2A-45AB-0C63EB81D318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4FC3A5-4EE7-6095-D0B1-CD4F5CA5A7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31" y="6548029"/>
            <a:ext cx="984076" cy="2802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71259"/>
            <a:ext cx="1196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NEXT STEPS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851167"/>
            <a:ext cx="10469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From parcel tool to European 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land intelligence infrastructure.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2270188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838641"/>
            <a:ext cx="2148840" cy="2738328"/>
          </a:xfrm>
          <a:prstGeom prst="rect">
            <a:avLst/>
          </a:prstGeom>
          <a:solidFill>
            <a:srgbClr val="F7F8FA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9300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345128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</a:rPr>
              <a:t>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3753040"/>
            <a:ext cx="187452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" y="4144708"/>
            <a:ext cx="1920240" cy="1071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8000"/>
              </a:lnSpc>
            </a:pPr>
            <a:r>
              <a:rPr lang="en-US" sz="1200" dirty="0"/>
              <a:t>First paying customers.</a:t>
            </a:r>
          </a:p>
          <a:p>
            <a:pPr algn="ctr">
              <a:lnSpc>
                <a:spcPct val="138000"/>
              </a:lnSpc>
            </a:pPr>
            <a:r>
              <a:rPr lang="en-US" sz="1200" dirty="0"/>
              <a:t>Pricing validation.</a:t>
            </a:r>
          </a:p>
          <a:p>
            <a:pPr algn="ctr">
              <a:lnSpc>
                <a:spcPct val="138000"/>
              </a:lnSpc>
            </a:pPr>
            <a:r>
              <a:rPr lang="en-US" sz="1200" dirty="0"/>
              <a:t>Product refinement</a:t>
            </a:r>
          </a:p>
        </p:txBody>
      </p:sp>
      <p:sp>
        <p:nvSpPr>
          <p:cNvPr id="12" name="Text 10"/>
          <p:cNvSpPr/>
          <p:nvPr/>
        </p:nvSpPr>
        <p:spPr>
          <a:xfrm>
            <a:off x="3325368" y="4118800"/>
            <a:ext cx="67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→</a:t>
            </a:r>
          </a:p>
        </p:txBody>
      </p:sp>
      <p:sp>
        <p:nvSpPr>
          <p:cNvPr id="13" name="Shape 11"/>
          <p:cNvSpPr/>
          <p:nvPr/>
        </p:nvSpPr>
        <p:spPr>
          <a:xfrm>
            <a:off x="4553712" y="2838641"/>
            <a:ext cx="2148840" cy="27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3712" y="29300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2">
                    <a:lumMod val="75000"/>
                  </a:schemeClr>
                </a:solidFill>
              </a:rPr>
              <a:t>2</a:t>
            </a:r>
            <a:endParaRPr lang="en-US" sz="3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53712" y="345128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2027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90872" y="3753040"/>
            <a:ext cx="187452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4144708"/>
            <a:ext cx="1920240" cy="1071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8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Lithuania market expansion.</a:t>
            </a:r>
          </a:p>
          <a:p>
            <a:pPr algn="ctr">
              <a:lnSpc>
                <a:spcPct val="138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Baltic rollout</a:t>
            </a:r>
          </a:p>
        </p:txBody>
      </p:sp>
      <p:sp>
        <p:nvSpPr>
          <p:cNvPr id="20" name="Shape 18"/>
          <p:cNvSpPr/>
          <p:nvPr/>
        </p:nvSpPr>
        <p:spPr>
          <a:xfrm>
            <a:off x="8650224" y="2838641"/>
            <a:ext cx="2148840" cy="27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50224" y="29300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2">
                    <a:lumMod val="75000"/>
                  </a:schemeClr>
                </a:solidFill>
              </a:rPr>
              <a:t>3</a:t>
            </a:r>
            <a:endParaRPr lang="en-US" sz="3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50224" y="345128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2028+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87384" y="3753040"/>
            <a:ext cx="187452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759952" y="4144708"/>
            <a:ext cx="1920240" cy="1071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Poland.</a:t>
            </a:r>
          </a:p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Additional EU markets</a:t>
            </a:r>
          </a:p>
        </p:txBody>
      </p:sp>
      <p:sp>
        <p:nvSpPr>
          <p:cNvPr id="26" name="Text 24"/>
          <p:cNvSpPr/>
          <p:nvPr/>
        </p:nvSpPr>
        <p:spPr>
          <a:xfrm>
            <a:off x="7296912" y="4118800"/>
            <a:ext cx="673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→</a:t>
            </a:r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73CCED73-B917-C728-5C45-31923C7658D9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05A257-1D70-27CF-F6C5-4A00BF9AE4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31" y="6548029"/>
            <a:ext cx="984076" cy="2802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17D63-61E0-0761-B650-40F8971DF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>
            <a:extLst>
              <a:ext uri="{FF2B5EF4-FFF2-40B4-BE49-F238E27FC236}">
                <a16:creationId xmlns:a16="http://schemas.microsoft.com/office/drawing/2014/main" id="{594BF339-B740-1294-1346-32C19606E87E}"/>
              </a:ext>
            </a:extLst>
          </p:cNvPr>
          <p:cNvSpPr/>
          <p:nvPr/>
        </p:nvSpPr>
        <p:spPr>
          <a:xfrm>
            <a:off x="411479" y="225502"/>
            <a:ext cx="1316581" cy="33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THE ASK</a:t>
            </a:r>
            <a:endParaRPr lang="en-US" sz="14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F79A9354-1934-AE1A-DBC1-7E02F3E0DB27}"/>
              </a:ext>
            </a:extLst>
          </p:cNvPr>
          <p:cNvSpPr/>
          <p:nvPr/>
        </p:nvSpPr>
        <p:spPr>
          <a:xfrm>
            <a:off x="959341" y="2735580"/>
            <a:ext cx="180671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Mentorship</a:t>
            </a:r>
            <a:endParaRPr lang="en-US" sz="2600" dirty="0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CBB20A25-EF78-DF4E-A62C-60836D740E5D}"/>
              </a:ext>
            </a:extLst>
          </p:cNvPr>
          <p:cNvSpPr/>
          <p:nvPr/>
        </p:nvSpPr>
        <p:spPr>
          <a:xfrm>
            <a:off x="411480" y="33573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Mentorship</a:t>
            </a:r>
            <a:endParaRPr lang="en-US" sz="150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B398E999-3802-2662-28F0-1A031A3F7330}"/>
              </a:ext>
            </a:extLst>
          </p:cNvPr>
          <p:cNvSpPr/>
          <p:nvPr/>
        </p:nvSpPr>
        <p:spPr>
          <a:xfrm>
            <a:off x="411480" y="3337694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/>
              <a:t>Go-to-market strategy, first enterprise sales conversations, and pricing validation with real commercial developers.</a:t>
            </a: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B9ACDA56-FA3A-03CA-69D4-635CE8A33C93}"/>
              </a:ext>
            </a:extLst>
          </p:cNvPr>
          <p:cNvSpPr/>
          <p:nvPr/>
        </p:nvSpPr>
        <p:spPr>
          <a:xfrm>
            <a:off x="5165581" y="2735580"/>
            <a:ext cx="140285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Network</a:t>
            </a:r>
            <a:endParaRPr lang="en-US" sz="2600" dirty="0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5A06704D-06C4-11EA-1BD8-6B8667B25759}"/>
              </a:ext>
            </a:extLst>
          </p:cNvPr>
          <p:cNvSpPr/>
          <p:nvPr/>
        </p:nvSpPr>
        <p:spPr>
          <a:xfrm>
            <a:off x="4297680" y="33573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Network</a:t>
            </a:r>
            <a:endParaRPr lang="en-US" sz="1500" dirty="0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86B332E5-CF2C-CF7D-A798-07CAE9B73439}"/>
              </a:ext>
            </a:extLst>
          </p:cNvPr>
          <p:cNvSpPr/>
          <p:nvPr/>
        </p:nvSpPr>
        <p:spPr>
          <a:xfrm>
            <a:off x="4297680" y="3337694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/>
              <a:t>Introductions to commercial RE developers, investment funds, and Registrų Centras for deeper data access partnerships.</a:t>
            </a: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BCE5000A-9504-07D4-9DE9-A96AA42CF66A}"/>
              </a:ext>
            </a:extLst>
          </p:cNvPr>
          <p:cNvSpPr/>
          <p:nvPr/>
        </p:nvSpPr>
        <p:spPr>
          <a:xfrm>
            <a:off x="8602201" y="2735580"/>
            <a:ext cx="194387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Acceleration</a:t>
            </a:r>
            <a:endParaRPr lang="en-US" sz="26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3B5FE189-6C54-378F-C22F-F487660DB56A}"/>
              </a:ext>
            </a:extLst>
          </p:cNvPr>
          <p:cNvSpPr/>
          <p:nvPr/>
        </p:nvSpPr>
        <p:spPr>
          <a:xfrm>
            <a:off x="8183880" y="33573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Acceleration</a:t>
            </a:r>
            <a:endParaRPr lang="en-US" sz="1500" dirty="0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77DBC393-9AA8-8DDA-4AE3-0775319D9D51}"/>
              </a:ext>
            </a:extLst>
          </p:cNvPr>
          <p:cNvSpPr/>
          <p:nvPr/>
        </p:nvSpPr>
        <p:spPr>
          <a:xfrm>
            <a:off x="8183880" y="3337694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/>
              <a:t>Runway to close the first paid enterprise subscription by Q3 2026 and prepare the Latvia / Estonia expansion for Q1 2027.</a:t>
            </a:r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13604F3D-C2DE-5AEC-1D87-642D73FF9118}"/>
              </a:ext>
            </a:extLst>
          </p:cNvPr>
          <p:cNvSpPr/>
          <p:nvPr/>
        </p:nvSpPr>
        <p:spPr>
          <a:xfrm>
            <a:off x="411480" y="6420630"/>
            <a:ext cx="66092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50" dirty="0">
                <a:solidFill>
                  <a:srgbClr val="028090"/>
                </a:solidFill>
                <a:latin typeface="Trebuchet MS" panose="020B0603020202020204" pitchFamily="34" charset="0"/>
              </a:rPr>
              <a:t>The technology is built.  The data is live.  The market is unserved.</a:t>
            </a:r>
            <a:endParaRPr lang="en-US" sz="1500" dirty="0">
              <a:latin typeface="Trebuchet MS" panose="020B0603020202020204" pitchFamily="34" charset="0"/>
            </a:endParaRPr>
          </a:p>
        </p:txBody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9B198611-ABA8-D418-E36F-37A15CDE0B2B}"/>
              </a:ext>
            </a:extLst>
          </p:cNvPr>
          <p:cNvSpPr/>
          <p:nvPr/>
        </p:nvSpPr>
        <p:spPr>
          <a:xfrm>
            <a:off x="411480" y="622389"/>
            <a:ext cx="11430000" cy="668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/>
              <a:t>Help us reach the first customers. Then help us scale.</a:t>
            </a:r>
            <a:endParaRPr lang="en-US" sz="4000" dirty="0"/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D62D425B-0195-7D51-DF89-7268F8D2FFF6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283CB3-C266-E4AF-E7C3-4482B5A36E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31" y="6548029"/>
            <a:ext cx="984076" cy="28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27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EF896E1-F906-526D-48B5-723A03851D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31" y="6548029"/>
            <a:ext cx="984076" cy="2802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7581C2-26D3-7126-F81E-EDC10AA2C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199" y="255720"/>
            <a:ext cx="6331059" cy="633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54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3199</TotalTime>
  <Words>1168</Words>
  <Application>Microsoft Office PowerPoint</Application>
  <PresentationFormat>Widescreen</PresentationFormat>
  <Paragraphs>213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Terrainica — Investor-Grade Pitch · 2026</dc:title>
  <dc:subject>PptxGenJS Presentation</dc:subject>
  <dc:creator>Henry Otuadinma</dc:creator>
  <cp:lastModifiedBy>Henry Valentine</cp:lastModifiedBy>
  <cp:revision>118</cp:revision>
  <dcterms:created xsi:type="dcterms:W3CDTF">2026-06-07T14:57:56Z</dcterms:created>
  <dcterms:modified xsi:type="dcterms:W3CDTF">2026-06-14T14:22:13Z</dcterms:modified>
</cp:coreProperties>
</file>