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81C"/>
    <a:srgbClr val="028090"/>
    <a:srgbClr val="1E3A8A"/>
    <a:srgbClr val="080F1A"/>
    <a:srgbClr val="494949"/>
    <a:srgbClr val="4A55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4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85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A236-7AAC-BED4-B9E5-169DC4AB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F13D9-5825-177C-6797-6F25D5DF6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26BAA8-715B-6E46-6B81-4D1EFD8FD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D87AF-B4DB-7371-B31F-8704A1007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76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DF3C-98F1-86EB-D52F-4E94F181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065D7-ED94-85F7-D9CB-10132E76F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4103E-2F3C-88CE-641C-DFE083093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864EE-84CC-E2E7-304D-37207662D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63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3">
            <a:extLst>
              <a:ext uri="{FF2B5EF4-FFF2-40B4-BE49-F238E27FC236}">
                <a16:creationId xmlns:a16="http://schemas.microsoft.com/office/drawing/2014/main" id="{52A80F08-1DBA-82EA-9A3D-FD780A6BB65A}"/>
              </a:ext>
            </a:extLst>
          </p:cNvPr>
          <p:cNvSpPr/>
          <p:nvPr/>
        </p:nvSpPr>
        <p:spPr>
          <a:xfrm>
            <a:off x="3332912" y="2263519"/>
            <a:ext cx="4873441" cy="960120"/>
          </a:xfrm>
          <a:prstGeom prst="rect">
            <a:avLst/>
          </a:prstGeom>
          <a:noFill/>
          <a:ln w="28575">
            <a:solidFill>
              <a:srgbClr val="18181C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600" dirty="0">
                <a:latin typeface="Trebuchet MS" panose="020B0603020202020204" pitchFamily="34" charset="0"/>
              </a:rPr>
              <a:t>TERRAINICA</a:t>
            </a:r>
            <a:endParaRPr lang="en-US" sz="5600" spc="600" dirty="0">
              <a:latin typeface="Trebuchet MS" panose="020B060302020202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A0B474A-0C36-7242-7C47-32AAAA19BDB1}"/>
              </a:ext>
            </a:extLst>
          </p:cNvPr>
          <p:cNvSpPr/>
          <p:nvPr/>
        </p:nvSpPr>
        <p:spPr>
          <a:xfrm>
            <a:off x="4642514" y="3371094"/>
            <a:ext cx="2641687" cy="394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anose="020B0603020202020204" pitchFamily="34" charset="0"/>
              </a:rPr>
              <a:t>Land acquisition intelligence.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FE5ACF9-F183-EFF0-4D91-5EFF53D858B7}"/>
              </a:ext>
            </a:extLst>
          </p:cNvPr>
          <p:cNvSpPr/>
          <p:nvPr/>
        </p:nvSpPr>
        <p:spPr>
          <a:xfrm>
            <a:off x="-30219" y="6410014"/>
            <a:ext cx="4710707" cy="394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Henry Otuadinma  ·  MSc AI Engineering (Year 1). </a:t>
            </a:r>
            <a:r>
              <a:rPr lang="en-US" sz="1350" i="1" dirty="0">
                <a:solidFill>
                  <a:srgbClr val="028090"/>
                </a:solidFill>
              </a:rPr>
              <a:t>terrainica.com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B19F6786-0939-E8F4-2118-30FD85864538}"/>
              </a:ext>
            </a:extLst>
          </p:cNvPr>
          <p:cNvSpPr/>
          <p:nvPr/>
        </p:nvSpPr>
        <p:spPr>
          <a:xfrm>
            <a:off x="4386789" y="4012199"/>
            <a:ext cx="2943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>
                    <a:lumMod val="25000"/>
                  </a:schemeClr>
                </a:solidFill>
              </a:rPr>
              <a:t>Start in Lithuania. Scale across Europe</a:t>
            </a:r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CA22CF4E-5F16-D381-2252-7295ACE95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124" y="6524163"/>
            <a:ext cx="1036346" cy="310904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6" name="Shape 8">
            <a:extLst>
              <a:ext uri="{FF2B5EF4-FFF2-40B4-BE49-F238E27FC236}">
                <a16:creationId xmlns:a16="http://schemas.microsoft.com/office/drawing/2014/main" id="{E2645970-1AD1-D9F8-27D3-2815FBA8AC5D}"/>
              </a:ext>
            </a:extLst>
          </p:cNvPr>
          <p:cNvSpPr/>
          <p:nvPr/>
        </p:nvSpPr>
        <p:spPr>
          <a:xfrm>
            <a:off x="4333128" y="3877751"/>
            <a:ext cx="3014743" cy="23320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CAC0-2C0D-F3F1-5658-D3CD8D64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072B113-40A3-0B52-3A4B-1719D9078691}"/>
              </a:ext>
            </a:extLst>
          </p:cNvPr>
          <p:cNvSpPr/>
          <p:nvPr/>
        </p:nvSpPr>
        <p:spPr>
          <a:xfrm>
            <a:off x="495170" y="179008"/>
            <a:ext cx="1868322" cy="351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THE OPPORTUNITY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B00D29-7DD1-137A-AFEE-0A76F0C89253}"/>
              </a:ext>
            </a:extLst>
          </p:cNvPr>
          <p:cNvSpPr/>
          <p:nvPr/>
        </p:nvSpPr>
        <p:spPr>
          <a:xfrm>
            <a:off x="502920" y="626444"/>
            <a:ext cx="10972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Land acquisition is a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€500M+ information problem.</a:t>
            </a:r>
            <a:endParaRPr lang="en-US" sz="4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3EF4E8-4B18-6FC4-C45A-550ACB70F9D4}"/>
              </a:ext>
            </a:extLst>
          </p:cNvPr>
          <p:cNvSpPr/>
          <p:nvPr/>
        </p:nvSpPr>
        <p:spPr>
          <a:xfrm>
            <a:off x="502920" y="237744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4C71B82-32CC-5983-D9EF-2AB28F9B35DF}"/>
              </a:ext>
            </a:extLst>
          </p:cNvPr>
          <p:cNvSpPr/>
          <p:nvPr/>
        </p:nvSpPr>
        <p:spPr>
          <a:xfrm>
            <a:off x="502920" y="25146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Commercial real estate transactions in Lithuania grew 25.8% in 2025. Prices rose 12.1% across major cities. Competition for the best parcels is intensifying. Most of those deals still begin with weeks of manual research across fifteen or more state registries - none of which talks to each other.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FC498A-0D5C-DC37-B314-237274F52FF6}"/>
              </a:ext>
            </a:extLst>
          </p:cNvPr>
          <p:cNvSpPr/>
          <p:nvPr/>
        </p:nvSpPr>
        <p:spPr>
          <a:xfrm>
            <a:off x="502920" y="3566160"/>
            <a:ext cx="3566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51C763-B2AC-81F9-D0EB-2280973123B0}"/>
              </a:ext>
            </a:extLst>
          </p:cNvPr>
          <p:cNvSpPr/>
          <p:nvPr/>
        </p:nvSpPr>
        <p:spPr>
          <a:xfrm>
            <a:off x="502920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</a:rPr>
              <a:t>Market is hot and competitive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F644EB-E8F3-1B55-2B13-7DA4CAF8FF33}"/>
              </a:ext>
            </a:extLst>
          </p:cNvPr>
          <p:cNvSpPr/>
          <p:nvPr/>
        </p:nvSpPr>
        <p:spPr>
          <a:xfrm>
            <a:off x="502920" y="411480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In a fast-moving market, the developer with faster information wins deals. The cost of slow pre-acquisition is rising in direct proportion to market activity.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0793C39-05E5-B85F-D41B-CCDD3451B82A}"/>
              </a:ext>
            </a:extLst>
          </p:cNvPr>
          <p:cNvSpPr/>
          <p:nvPr/>
        </p:nvSpPr>
        <p:spPr>
          <a:xfrm>
            <a:off x="4142232" y="3566160"/>
            <a:ext cx="16459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72646D6-B1FF-5C53-EB08-4273B57997A8}"/>
              </a:ext>
            </a:extLst>
          </p:cNvPr>
          <p:cNvSpPr/>
          <p:nvPr/>
        </p:nvSpPr>
        <p:spPr>
          <a:xfrm>
            <a:off x="4361688" y="3566160"/>
            <a:ext cx="3566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EFC2657-C629-556B-CF3A-65C2F8498D55}"/>
              </a:ext>
            </a:extLst>
          </p:cNvPr>
          <p:cNvSpPr/>
          <p:nvPr/>
        </p:nvSpPr>
        <p:spPr>
          <a:xfrm>
            <a:off x="4361688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</a:rPr>
              <a:t>No software product existed for this</a:t>
            </a:r>
            <a:endParaRPr lang="en-US" sz="13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D866B3-1E69-B712-300C-31A1768F932F}"/>
              </a:ext>
            </a:extLst>
          </p:cNvPr>
          <p:cNvSpPr/>
          <p:nvPr/>
        </p:nvSpPr>
        <p:spPr>
          <a:xfrm>
            <a:off x="4361688" y="411480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dongo.lt serves homebuyers. dp-market.com aggregates raw data. Zero commercial-grade pre-acquisition intelligence platforms existed in Lithuania before Terrainica.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9D8F5D3-E154-700D-E491-428918E8F682}"/>
              </a:ext>
            </a:extLst>
          </p:cNvPr>
          <p:cNvSpPr/>
          <p:nvPr/>
        </p:nvSpPr>
        <p:spPr>
          <a:xfrm>
            <a:off x="8001000" y="3566160"/>
            <a:ext cx="16459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C972DDC-E3BA-6399-1369-1D4734FA4343}"/>
              </a:ext>
            </a:extLst>
          </p:cNvPr>
          <p:cNvSpPr/>
          <p:nvPr/>
        </p:nvSpPr>
        <p:spPr>
          <a:xfrm>
            <a:off x="8220456" y="3566160"/>
            <a:ext cx="35661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090CAC5-0782-91F9-5A7C-E6437355A3F9}"/>
              </a:ext>
            </a:extLst>
          </p:cNvPr>
          <p:cNvSpPr/>
          <p:nvPr/>
        </p:nvSpPr>
        <p:spPr>
          <a:xfrm>
            <a:off x="8220456" y="36758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</a:rPr>
              <a:t>State data is now accessible</a:t>
            </a:r>
            <a:endParaRPr lang="en-US" sz="13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5F26A9B-D6AA-1E12-7F6B-8C39ECDAFCC3}"/>
              </a:ext>
            </a:extLst>
          </p:cNvPr>
          <p:cNvSpPr/>
          <p:nvPr/>
        </p:nvSpPr>
        <p:spPr>
          <a:xfrm>
            <a:off x="8220456" y="411480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RC, NTR, KPD, AAA, TPSV, UETK, and 30+ more Lithuanian state registries now expose machine-readable data. The technical layer that makes Terrainica possible just became viable.</a:t>
            </a:r>
            <a:endParaRPr lang="en-US" sz="11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9D53DF88-78BD-9F12-82E6-6BE6616D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85148645-FBA8-642F-976E-B59A8384C719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  <p:extLst>
      <p:ext uri="{BB962C8B-B14F-4D97-AF65-F5344CB8AC3E}">
        <p14:creationId xmlns:p14="http://schemas.microsoft.com/office/powerpoint/2010/main" val="2163811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0448" y="109268"/>
            <a:ext cx="1775331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THE PROBLEM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57441"/>
            <a:ext cx="11155680" cy="1095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A202C"/>
                </a:solidFill>
              </a:rPr>
              <a:t>The most important decision in land acquisition</a:t>
            </a:r>
            <a:endParaRPr lang="en-US" sz="3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A202C"/>
                </a:solidFill>
              </a:rPr>
              <a:t>happens with the worst information.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3590" y="2304288"/>
            <a:ext cx="1990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</a:rPr>
              <a:t>15+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State registries a developer must check manually. RC, NTR, KPD, AAA, TPSV, UETK, OSM, Copernicus, and more. None of them talk to each other.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2304288"/>
            <a:ext cx="16459" cy="2148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82358" y="2304288"/>
            <a:ext cx="1990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</a:rPr>
              <a:t>3-6 wks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61688" y="320040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To screen a single parcel before a purchase decision. In a competitive market, the best sites are gone in days.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9288" y="2304288"/>
            <a:ext cx="16459" cy="2148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41126" y="2304288"/>
            <a:ext cx="19906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</a:rPr>
              <a:t>€500+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0456" y="3200400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Per-parcel cost using architects or legal consultants for a pre-selection check — before any formal due diligence has even started.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57200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1115568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</a:rPr>
              <a:t>The cost of getting it wrong: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04748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A Lithuanian commercial developer who commits to a parcel with undiscovered planning restrictions faces project delays of 12 - 24 months, legal costs of €20,000–100,000, and in severe cases total loss of acquisition investment. This happens every year, in every municipality. It is preventable.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304ADF70-4B4E-8C8F-2AFB-44A9A3093380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11408" y="210004"/>
            <a:ext cx="2286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THE TRANSFORMATION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742680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02C"/>
                </a:solidFill>
              </a:rPr>
              <a:t>Before -&gt; After Terrainica.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6167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spc="300" dirty="0">
                <a:solidFill>
                  <a:srgbClr val="4A5568"/>
                </a:solidFill>
                <a:latin typeface="Trebuchet MS" panose="020B0603020202020204" pitchFamily="34" charset="0"/>
              </a:rPr>
              <a:t>WITHOUT TERRAINICA</a:t>
            </a:r>
            <a:endParaRPr lang="en-US" sz="1400" spc="300" dirty="0">
              <a:latin typeface="Trebuchet MS" panose="020B0603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0" y="1664208"/>
            <a:ext cx="384178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WITH TERRAINICA</a:t>
            </a:r>
            <a:endParaRPr lang="en-US" sz="14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7552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anose="020B0603020202020204" pitchFamily="34" charset="0"/>
              </a:rPr>
              <a:t>Open RC cadastral portal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7552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Download parcel data. Find the ownership and area information. This is the easy step. 30 - 60 min.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87552" y="2770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anose="020B0603020202020204" pitchFamily="34" charset="0"/>
              </a:rPr>
              <a:t>Check NTR building registry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7552" y="3044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Manual login required. Check for existing buildings, encumbrances, court seizures. 60 - 90 min.</a:t>
            </a:r>
          </a:p>
        </p:txBody>
      </p:sp>
      <p:sp>
        <p:nvSpPr>
          <p:cNvPr id="16" name="Text 14"/>
          <p:cNvSpPr/>
          <p:nvPr/>
        </p:nvSpPr>
        <p:spPr>
          <a:xfrm>
            <a:off x="548640" y="34564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7552" y="3438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anose="020B0603020202020204" pitchFamily="34" charset="0"/>
              </a:rPr>
              <a:t>KPD heritage portal + AAA flood maps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7552" y="37124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Separate systems, separate logins. Is it in a heritage zone? Does it flood? 90–120 min.</a:t>
            </a:r>
          </a:p>
        </p:txBody>
      </p:sp>
      <p:sp>
        <p:nvSpPr>
          <p:cNvPr id="19" name="Text 17"/>
          <p:cNvSpPr/>
          <p:nvPr/>
        </p:nvSpPr>
        <p:spPr>
          <a:xfrm>
            <a:off x="548640" y="41239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87552" y="4105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anose="020B0603020202020204" pitchFamily="34" charset="0"/>
              </a:rPr>
              <a:t>Municipal planning documents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552" y="43799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If a detailed plan exists, request it from the municipality.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Wait 1-5 days for a response.</a:t>
            </a:r>
          </a:p>
        </p:txBody>
      </p:sp>
      <p:sp>
        <p:nvSpPr>
          <p:cNvPr id="22" name="Text 20"/>
          <p:cNvSpPr/>
          <p:nvPr/>
        </p:nvSpPr>
        <p:spPr>
          <a:xfrm>
            <a:off x="548640" y="4791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87552" y="4773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anose="020B0603020202020204" pitchFamily="34" charset="0"/>
              </a:rPr>
              <a:t>Consult a planner or architect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" y="50474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Interpret what you found. Costs €300 - €800+. Takes 3–10 working days.</a:t>
            </a:r>
          </a:p>
        </p:txBody>
      </p:sp>
      <p:sp>
        <p:nvSpPr>
          <p:cNvPr id="25" name="Text 23"/>
          <p:cNvSpPr/>
          <p:nvPr/>
        </p:nvSpPr>
        <p:spPr>
          <a:xfrm>
            <a:off x="548640" y="54589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87552" y="5440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Trebuchet MS" panose="020B0603020202020204" pitchFamily="34" charset="0"/>
              </a:rPr>
              <a:t>Make a judgment call</a:t>
            </a:r>
            <a:endParaRPr lang="en-US" sz="1200" dirty="0">
              <a:latin typeface="Trebuchet MS" panose="020B0603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87552" y="5715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bg2">
                    <a:lumMod val="50000"/>
                  </a:schemeClr>
                </a:solidFill>
              </a:rPr>
              <a:t>Result: a folder of PDFs. Total time: 3 - 6 weeks. Total cost: €500+. Still uncertain.</a:t>
            </a:r>
          </a:p>
        </p:txBody>
      </p:sp>
      <p:sp>
        <p:nvSpPr>
          <p:cNvPr id="28" name="Shape 26"/>
          <p:cNvSpPr/>
          <p:nvPr/>
        </p:nvSpPr>
        <p:spPr>
          <a:xfrm>
            <a:off x="5989320" y="1664208"/>
            <a:ext cx="16459" cy="5166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92240" y="21214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</a:rPr>
              <a:t>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31152" y="2103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anose="020B0603020202020204" pitchFamily="34" charset="0"/>
              </a:rPr>
              <a:t>Enter the parcel ID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31152" y="2386899"/>
            <a:ext cx="4663440" cy="372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Any of Lithuania's 835,777 land parcels. Cadastral or unique NTR number.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2930733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</a:rPr>
              <a:t>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31152" y="2912445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anose="020B0603020202020204" pitchFamily="34" charset="0"/>
              </a:rPr>
              <a:t>11 signals computed automatically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931152" y="3214197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Flood risk, buildability, road access, demand, soil sealing, commercial density, and five more; from 35+ live state sources.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393378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</a:rPr>
              <a:t>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31152" y="391549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anose="020B0603020202020204" pitchFamily="34" charset="0"/>
              </a:rPr>
              <a:t>Risk flags surfaced instantly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31152" y="421724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Protected zone overlaps, electricity conflicts, planning restrictions; all identified and explained.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50840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</a:rPr>
              <a:t>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31152" y="506577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Trebuchet MS" panose="020B0603020202020204" pitchFamily="34" charset="0"/>
              </a:rPr>
              <a:t>Score + PDF report ready</a:t>
            </a:r>
            <a:endParaRPr lang="en-US" sz="1400" dirty="0">
              <a:latin typeface="Trebuchet MS" panose="020B0603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931152" y="536752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Composite score 0 - 100. Bilingual due diligence PDF. Risk profile. Acquisition recommendation. </a:t>
            </a:r>
            <a:r>
              <a:rPr lang="en-US" sz="1100" b="1" dirty="0">
                <a:solidFill>
                  <a:srgbClr val="4A5568"/>
                </a:solidFill>
              </a:rPr>
              <a:t>Under 10 seconds</a:t>
            </a:r>
            <a:r>
              <a:rPr lang="en-US" sz="1100" dirty="0">
                <a:solidFill>
                  <a:srgbClr val="4A5568"/>
                </a:solidFill>
              </a:rPr>
              <a:t>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6108192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614476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3 - 6 weeks  ·  €500+  ·  High uncertainty</a:t>
            </a:r>
          </a:p>
        </p:txBody>
      </p:sp>
      <p:sp>
        <p:nvSpPr>
          <p:cNvPr id="43" name="Text 41"/>
          <p:cNvSpPr/>
          <p:nvPr/>
        </p:nvSpPr>
        <p:spPr>
          <a:xfrm>
            <a:off x="6400800" y="614476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</a:rPr>
              <a:t>Under 10 seconds  ·  A fraction of the cost  ·  Actionable intelligence</a:t>
            </a:r>
            <a:endParaRPr lang="en-US" sz="105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45" name="Text 7">
            <a:extLst>
              <a:ext uri="{FF2B5EF4-FFF2-40B4-BE49-F238E27FC236}">
                <a16:creationId xmlns:a16="http://schemas.microsoft.com/office/drawing/2014/main" id="{E9A9B545-2AFA-634D-2521-4F36D83E0059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19" y="163511"/>
            <a:ext cx="12948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PRODUCT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18696"/>
            <a:ext cx="11384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Built for professional volume,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not one-off lookups.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2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</a:rPr>
              <a:t>SPEED</a:t>
            </a:r>
            <a:endParaRPr lang="en-US" sz="1200" spc="300" dirty="0">
              <a:solidFill>
                <a:srgbClr val="02809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&lt; 10-second intelligence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944368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Score any of 835,777 Lithuanian parcels. 11 signals from 35+ state sources computed instantly. Sub-10-second end-to-end: parcel ID to bilingual PDF report.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9048" y="2148840"/>
            <a:ext cx="16459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06669" y="2148840"/>
            <a:ext cx="11931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DISCOVERY</a:t>
            </a:r>
            <a:endParaRPr lang="en-US" sz="12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24963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Opportunity feed on login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09360" y="2944368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30358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835,777 parcels ranked by signal score, surfaced by category (strong acquisition candidates, distressed land, watch-list alerts) before a user enters a single ID.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19" y="4142232"/>
            <a:ext cx="112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SCALE</a:t>
            </a:r>
            <a:endParaRPr lang="en-US" sz="12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448970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Batch evaluation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Upload a list of hundreds of parcels. Score them all simultaneously. Download batch PDF reports. A full portfolio screening that previously took weeks now takes minutes.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99048" y="4142232"/>
            <a:ext cx="16459" cy="1920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26894" y="4142232"/>
            <a:ext cx="12908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MONITORING</a:t>
            </a:r>
            <a:endParaRPr lang="en-US" sz="12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09360" y="448970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02C"/>
                </a:solidFill>
              </a:rPr>
              <a:t>Watchlist + change alerts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309360" y="4937760"/>
            <a:ext cx="539496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Pin any parcel. Receive automatic notifications when state register changes affect it:  new planning constraints, ownership changes, encumbrances, or score movement.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Also: portfolio processing  ·  scoring profile customisation  ·  sell-intent signals  ·  continuous register monitoring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2A284026-D41B-7C23-84FF-D348DF4AF36C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19" y="140265"/>
            <a:ext cx="15196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TRACTION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87698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Industry validated.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Product live. Pre-revenue.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267712"/>
            <a:ext cx="11155680" cy="120700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50292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35915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090"/>
                </a:solidFill>
              </a:rPr>
              <a:t>INDUSTRY 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60604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300" dirty="0">
                <a:solidFill>
                  <a:srgbClr val="1A202C"/>
                </a:solidFill>
              </a:rPr>
              <a:t>Pre-Validated by  the President of the Lithuanian National Land Parcels Association (LNTPA), the professional body representing the industry Terrainica serves - at a dedicated platform evaluation session.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6758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835,777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44622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Lithuanian land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parcels scored and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9544" y="3675888"/>
            <a:ext cx="16459" cy="1325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0712" y="36758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35+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3410712" y="44622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Live state data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sources integrated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17336" y="3675888"/>
            <a:ext cx="16459" cy="1325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36758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&lt; 10 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318504" y="44622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End-to-end: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parcel ID to PDF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25128" y="3675888"/>
            <a:ext cx="16459" cy="1325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26296" y="367588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11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226296" y="44622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Scoring signals,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all active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102352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51846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Full bilingual PDF report generation live in all major Lithuanian municipalities</a:t>
            </a:r>
          </a:p>
        </p:txBody>
      </p:sp>
      <p:sp>
        <p:nvSpPr>
          <p:cNvPr id="23" name="Text 21"/>
          <p:cNvSpPr/>
          <p:nvPr/>
        </p:nvSpPr>
        <p:spPr>
          <a:xfrm>
            <a:off x="10149840" y="5184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</a:rPr>
              <a:t>Target: Q3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First paying enterprise customer</a:t>
            </a:r>
          </a:p>
        </p:txBody>
      </p:sp>
      <p:sp>
        <p:nvSpPr>
          <p:cNvPr id="25" name="Shape 23"/>
          <p:cNvSpPr/>
          <p:nvPr/>
        </p:nvSpPr>
        <p:spPr>
          <a:xfrm>
            <a:off x="10058400" y="5650992"/>
            <a:ext cx="137160" cy="1371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589F6D77-ABAD-0C74-EEA3-9B467D3E9B52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01444" y="124764"/>
            <a:ext cx="2891210" cy="336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MARKET OPPORTUNITY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727182"/>
            <a:ext cx="11384280" cy="8375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A large, underdeveloped market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with no dominant digital player.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19" y="2212848"/>
            <a:ext cx="10242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</a:rPr>
              <a:t>TAM</a:t>
            </a:r>
            <a:endParaRPr lang="en-US" sz="1200" spc="300" dirty="0">
              <a:solidFill>
                <a:srgbClr val="02809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2532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</a:rPr>
              <a:t>EU Land Intelligence SaaS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</a:rPr>
              <a:t>€500M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502920" y="3712464"/>
            <a:ext cx="352044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3566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Commercial land pre-acquisition intelligence across the EU. 500,000+ developers and RE funds screening parcels annually, today paying consultants or doing it manually.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983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European PropTech SaaS market growing at 15%+ CAGR. Land pre-acquisition is the least digitised layer in the transaction stack.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60520" y="2212848"/>
            <a:ext cx="16459" cy="33375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61687" y="2212848"/>
            <a:ext cx="10242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</a:rPr>
              <a:t>SAM</a:t>
            </a:r>
            <a:endParaRPr lang="en-US" sz="1200" spc="300" dirty="0">
              <a:solidFill>
                <a:srgbClr val="02809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61688" y="2532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</a:rPr>
              <a:t>Baltic + Poland + Central EU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61688" y="288036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</a:rPr>
              <a:t>€35M</a:t>
            </a:r>
            <a:endParaRPr lang="en-US" sz="4600" dirty="0"/>
          </a:p>
        </p:txBody>
      </p:sp>
      <p:sp>
        <p:nvSpPr>
          <p:cNvPr id="18" name="Shape 16"/>
          <p:cNvSpPr/>
          <p:nvPr/>
        </p:nvSpPr>
        <p:spPr>
          <a:xfrm>
            <a:off x="4361688" y="3712464"/>
            <a:ext cx="352044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61688" y="3794760"/>
            <a:ext cx="3566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Lithuania €5–8M (500 developers × 100 parcels × €100 avg annual platform cost). Latvia + Estonia €4M. Poland €23M (10× activity, same cadastral logic). All compatible with Terrainica's data architecture.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61688" y="4983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Lithuanian RE transactions +25.8% YoY (2025). Annual price growth +12.1%. Market timing is optimal.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19288" y="2212848"/>
            <a:ext cx="16459" cy="33375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0455" y="2212848"/>
            <a:ext cx="10242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spc="300" dirty="0">
                <a:solidFill>
                  <a:srgbClr val="028090"/>
                </a:solidFill>
              </a:rPr>
              <a:t>SOM</a:t>
            </a:r>
            <a:endParaRPr lang="en-US" sz="1200" spc="300" dirty="0">
              <a:solidFill>
                <a:srgbClr val="02809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20456" y="25328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</a:rPr>
              <a:t>Lithuania · 3-Year Target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0456" y="2880360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28090"/>
                </a:solidFill>
              </a:rPr>
              <a:t>€3M</a:t>
            </a:r>
            <a:endParaRPr lang="en-US" sz="4600" dirty="0"/>
          </a:p>
        </p:txBody>
      </p:sp>
      <p:sp>
        <p:nvSpPr>
          <p:cNvPr id="26" name="Shape 24"/>
          <p:cNvSpPr/>
          <p:nvPr/>
        </p:nvSpPr>
        <p:spPr>
          <a:xfrm>
            <a:off x="8220456" y="3712464"/>
            <a:ext cx="352044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0456" y="3794760"/>
            <a:ext cx="35661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4A5568"/>
                </a:solidFill>
              </a:rPr>
              <a:t>15% capture of ~400 active commercial RE developers and funds at €5,000 avg annual subscription by Year 3. Baltic expansion adds €1.5M. Total 3-year ARR target: €3M.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0456" y="49834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Year 1: €500K ARR (65 customers). Year 2: €1.5M. Year 3: €3M with Baltic onboarding.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5650992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57241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Primary: Commercial developers  ·  RE investment funds  ·  Land acquisition consultants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57241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28090"/>
                </a:solidFill>
              </a:rPr>
              <a:t>Next: Latvia  ·  Estonia  ·  Poland</a:t>
            </a:r>
            <a:endParaRPr lang="en-US" sz="10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37" name="Text 7">
            <a:extLst>
              <a:ext uri="{FF2B5EF4-FFF2-40B4-BE49-F238E27FC236}">
                <a16:creationId xmlns:a16="http://schemas.microsoft.com/office/drawing/2014/main" id="{C86398F5-88F5-F354-0333-94A101837AC7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93694" y="117011"/>
            <a:ext cx="2248029" cy="192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BUSINESS MODEL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41203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202C"/>
                </a:solidFill>
              </a:rPr>
              <a:t>Four tiers. One compounding platform.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3845" y="17373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671903" y="1783080"/>
            <a:ext cx="566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671903" y="17830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Credits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€50 / report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218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Pay-per-use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611880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Low-friction entry. Individual report generation for occasional users or first-time evaluations. No commitment required.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737360"/>
            <a:ext cx="16459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61637" y="17373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2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579695" y="1783080"/>
            <a:ext cx="566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9695" y="17830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359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Professional SaaS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410712" y="274320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0712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€500 / month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10712" y="3218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€6,000 / year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352044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10712" y="3611880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Full platform access. Unlimited parcel scoring, batch evaluation, watchlist, opportunity feed, and scoring profile customisation. Billed annually.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9632" y="1737360"/>
            <a:ext cx="16459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69429" y="17373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3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8487487" y="1783080"/>
            <a:ext cx="566928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87487" y="17830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18504" y="2359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Enterprise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318504" y="274320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18504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€3,000 - 5,000 / mo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18504" y="3218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€36,000 - 60,000 / yr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18504" y="352044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18504" y="3611880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API access + white-label reporting + custom data integrations + volume SLA. Designed for RE investment funds and large developer groups screening 1,000+ parcels/month.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07424" y="1737360"/>
            <a:ext cx="16459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877221" y="1737360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4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11031076" y="1783080"/>
            <a:ext cx="914400" cy="201168"/>
          </a:xfrm>
          <a:prstGeom prst="rect">
            <a:avLst/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11031076" y="1783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25000"/>
                  </a:schemeClr>
                </a:solidFill>
              </a:rPr>
              <a:t>PHASE 2</a:t>
            </a:r>
            <a:endParaRPr lang="en-US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9226296" y="2359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02C"/>
                </a:solidFill>
              </a:rPr>
              <a:t>Marketplace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9226296" y="274320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226296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</a:rPr>
              <a:t>2 - 5% commission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226296" y="32186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Network effect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26296" y="3520440"/>
            <a:ext cx="26974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226296" y="3611880"/>
            <a:ext cx="2743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Pre-qualified land listings with embedded scores. Developers pay credits to contact verified motivated sellers. Supply sourced from continuous register monitoring.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02920" y="525780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5338701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One enterprise contract at the midpoint (€48K/yr) = 8× a Professional subscription = 960 individual reports.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49" name="Text 7">
            <a:extLst>
              <a:ext uri="{FF2B5EF4-FFF2-40B4-BE49-F238E27FC236}">
                <a16:creationId xmlns:a16="http://schemas.microsoft.com/office/drawing/2014/main" id="{3D1B5444-0198-3F0A-2D1D-B4F960F34E17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182" y="78272"/>
            <a:ext cx="2929955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COMPETITIVE LANDSCAPE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595447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Terrainica created the category.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No one else is building this.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dongo.lt serves individual homebuyers checking one plot before building a house. dp-market.com aggregates raw property data for prosumers. GIS consultants take days and cost €1,000+. Public registers require technical expertise and separate logins for each. None of these serve commercial developers doing volume acquisition screening. Terrainica created that category.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87168" y="299923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dongo.lt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05072" y="2999232"/>
            <a:ext cx="1572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dp-market.com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14416" y="29992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Manual / consultant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299923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GIS consultant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33104" y="299923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Public registers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351008" y="2999232"/>
            <a:ext cx="16916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51008" y="299923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TERRAINICA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Target user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87168" y="34015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Homebuyer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05072" y="340156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Prosumer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14416" y="340156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Professional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0" y="34015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Specialist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33104" y="340156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Expert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351008" y="340156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Commercial developer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80390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Composite score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87168" y="38039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05072" y="380390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14416" y="380390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0" y="38039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833104" y="380390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351008" y="380390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 11 signals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151376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20624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Speed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87168" y="42062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~10 min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005072" y="420624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Unknown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14416" y="420624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Days–wks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42062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Days–wks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833104" y="4206240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Hours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351008" y="42062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&lt; 10 seconds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553712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4608576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Batch / portfolio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487168" y="460857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005072" y="460857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14416" y="460857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0" y="460857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833104" y="460857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351008" y="460857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95604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5010912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Opportunity feed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487168" y="50109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005072" y="5010912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614416" y="501091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315200" y="50109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833104" y="501091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351008" y="501091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5358384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" y="5413248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Watchlist + alerts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2487168" y="54132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005072" y="5413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14416" y="541324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315200" y="54132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833104" y="54132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3333"/>
                </a:solidFill>
              </a:rPr>
              <a:t>✗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351008" y="5413248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✓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5760720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2920" y="5815584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Cost / parcel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2487168" y="581558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~€2–5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005072" y="581558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~€5–15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614416" y="581558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€300+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315200" y="581558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€50–200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833104" y="581558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</a:rPr>
              <a:t>Hours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0351008" y="581558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02C"/>
                </a:solidFill>
              </a:rPr>
              <a:t>Fraction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6163056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72" name="Text 7">
            <a:extLst>
              <a:ext uri="{FF2B5EF4-FFF2-40B4-BE49-F238E27FC236}">
                <a16:creationId xmlns:a16="http://schemas.microsoft.com/office/drawing/2014/main" id="{E2A2B2C2-22E7-2F2A-45AB-0C63EB81D318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32512"/>
            <a:ext cx="8376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TEAM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26444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The research is the moat.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The execution is the proof.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</a:rPr>
              <a:t>Henry Otuadinma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27157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Developer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090672"/>
            <a:ext cx="5303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287268"/>
            <a:ext cx="5486400" cy="895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2000"/>
              </a:lnSpc>
            </a:pPr>
            <a:r>
              <a:rPr lang="en-US" sz="1300" dirty="0">
                <a:solidFill>
                  <a:srgbClr val="4A5568"/>
                </a:solidFill>
              </a:rPr>
              <a:t>Professional background in enterprise software development. </a:t>
            </a:r>
          </a:p>
          <a:p>
            <a:pPr>
              <a:lnSpc>
                <a:spcPct val="142000"/>
              </a:lnSpc>
            </a:pPr>
            <a:r>
              <a:rPr lang="en-US" sz="1300" dirty="0">
                <a:solidFill>
                  <a:srgbClr val="4A5568"/>
                </a:solidFill>
              </a:rPr>
              <a:t>Terrainica is the foundation for a bigger commercial application of an academic research.</a:t>
            </a:r>
          </a:p>
          <a:p>
            <a:pPr marL="0" indent="0">
              <a:lnSpc>
                <a:spcPct val="142000"/>
              </a:lnSpc>
              <a:buNone/>
            </a:pPr>
            <a:endParaRPr lang="en-US" sz="1300" dirty="0">
              <a:solidFill>
                <a:srgbClr val="4A5568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4270248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2000"/>
              </a:lnSpc>
            </a:pPr>
            <a:r>
              <a:rPr lang="en-US" sz="1300" dirty="0">
                <a:solidFill>
                  <a:srgbClr val="4A5568"/>
                </a:solidFill>
              </a:rPr>
              <a:t>35+ state data integrations, a production PostgreSQL/</a:t>
            </a:r>
            <a:r>
              <a:rPr lang="en-US" sz="1300" dirty="0" err="1">
                <a:solidFill>
                  <a:srgbClr val="4A5568"/>
                </a:solidFill>
              </a:rPr>
              <a:t>PostGIS</a:t>
            </a:r>
            <a:r>
              <a:rPr lang="en-US" sz="1300" dirty="0">
                <a:solidFill>
                  <a:srgbClr val="4A5568"/>
                </a:solidFill>
              </a:rPr>
              <a:t> geospatial database, an ASP.NET Core API, a Next.js web application, and a Puppeteer PDF sidecar; SQL-based deterministic decision engine, no black box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91072" y="2029968"/>
            <a:ext cx="16459" cy="4617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14429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rebuchet MS" panose="020B0603020202020204" pitchFamily="34" charset="0"/>
              </a:rPr>
              <a:t>Research moat:</a:t>
            </a:r>
            <a:endParaRPr lang="en-US" sz="1300" dirty="0">
              <a:latin typeface="Trebuchet MS" panose="020B0603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2240" y="25786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202C"/>
                </a:solidFill>
              </a:rPr>
              <a:t>Image Captioning with Multi-modal Transformers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312724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MSc AI Engineering  ·  Vilnius Tech  ·  2025–2027</a:t>
            </a:r>
          </a:p>
        </p:txBody>
      </p:sp>
      <p:sp>
        <p:nvSpPr>
          <p:cNvPr id="15" name="Shape 13"/>
          <p:cNvSpPr/>
          <p:nvPr/>
        </p:nvSpPr>
        <p:spPr>
          <a:xfrm>
            <a:off x="6492240" y="3474720"/>
            <a:ext cx="5303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66206" y="3658600"/>
            <a:ext cx="1687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anose="020B0603020202020204" pitchFamily="34" charset="0"/>
              </a:rPr>
              <a:t>PHASE 2 - COMPLETE</a:t>
            </a:r>
            <a:endParaRPr lang="en-US" sz="12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530552" y="3885276"/>
            <a:ext cx="5303520" cy="703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Comparable baseline established between BEiT-3 and BLIP-2 on the RSICD (Remote Sensing Image Captioning Dataset) - satellite and aerial imagery. BLIP-2 selected as teacher model for Phase 3.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6206" y="4777740"/>
            <a:ext cx="1822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anose="020B0603020202020204" pitchFamily="34" charset="0"/>
              </a:rPr>
              <a:t>PHASE 3 - IN PROGRESS</a:t>
            </a:r>
            <a:endParaRPr lang="en-US" sz="12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1666" y="5014951"/>
            <a:ext cx="5303520" cy="489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Knowledge distillation BLIP-2 </a:t>
            </a:r>
            <a:r>
              <a:rPr lang="en-US" sz="1200" b="1" dirty="0">
                <a:solidFill>
                  <a:srgbClr val="4A5568"/>
                </a:solidFill>
              </a:rPr>
              <a:t>-&gt;</a:t>
            </a:r>
            <a:r>
              <a:rPr lang="en-US" sz="1200" dirty="0">
                <a:solidFill>
                  <a:srgbClr val="4A5568"/>
                </a:solidFill>
              </a:rPr>
              <a:t> SmolVLM, INT8 quantisation for drone-edge deployment. Goal: run satellite image captioning at near-zero cost on-device.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09291" y="5797777"/>
            <a:ext cx="18946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anose="020B0603020202020204" pitchFamily="34" charset="0"/>
              </a:rPr>
              <a:t>TERRAINICA APPLICATION</a:t>
            </a:r>
            <a:endParaRPr lang="en-US" sz="12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69297" y="6020474"/>
            <a:ext cx="5303520" cy="703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Remote sensing captioning applied to land parcel satellite imagery. INT8 SmolVLM deployed on drones for autonomous on-site parcel surveillance and change detection.</a:t>
            </a:r>
            <a:endParaRPr lang="en-US" sz="12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010E4CD-B536-97F1-81D5-E6724A94760F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71259"/>
            <a:ext cx="102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VISION</a:t>
            </a:r>
            <a:endParaRPr lang="en-US" sz="11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10947"/>
            <a:ext cx="10972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From parcel tool to European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202C"/>
                </a:solidFill>
              </a:rPr>
              <a:t>land intelligence infrastructure.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02920" y="2029968"/>
            <a:ext cx="1115568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148840" cy="4069080"/>
          </a:xfrm>
          <a:prstGeom prst="rect">
            <a:avLst/>
          </a:prstGeom>
          <a:solidFill>
            <a:srgbClr val="F7F8F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8529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</a:rPr>
              <a:t>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202C"/>
                </a:solidFill>
              </a:rPr>
              <a:t>Parcel Intelligence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3858768"/>
            <a:ext cx="1920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8000"/>
              </a:lnSpc>
            </a:pPr>
            <a:r>
              <a:rPr lang="en-US" sz="1200" dirty="0">
                <a:solidFill>
                  <a:srgbClr val="4A5568"/>
                </a:solidFill>
              </a:rPr>
              <a:t>Individual parcel scoring. Risk profiling. </a:t>
            </a:r>
          </a:p>
          <a:p>
            <a:pPr algn="ctr">
              <a:lnSpc>
                <a:spcPct val="138000"/>
              </a:lnSpc>
            </a:pPr>
            <a:r>
              <a:rPr lang="en-US" sz="1200" dirty="0">
                <a:solidFill>
                  <a:srgbClr val="4A5568"/>
                </a:solidFill>
              </a:rPr>
              <a:t>Acquisition reports. </a:t>
            </a:r>
          </a:p>
          <a:p>
            <a:pPr algn="ctr">
              <a:lnSpc>
                <a:spcPct val="138000"/>
              </a:lnSpc>
            </a:pPr>
            <a:r>
              <a:rPr lang="en-US" sz="1200" dirty="0">
                <a:solidFill>
                  <a:srgbClr val="4A5568"/>
                </a:solidFill>
              </a:rPr>
              <a:t>Portfolio-level screening. Opportunity rankings. Watchlist and alerting</a:t>
            </a:r>
          </a:p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The starting layer.</a:t>
            </a:r>
          </a:p>
          <a:p>
            <a:pPr marL="0" indent="0" algn="ctr">
              <a:lnSpc>
                <a:spcPct val="13800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5204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16352" y="2240280"/>
            <a:ext cx="2148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16352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16352" y="28529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2026–27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53512" y="315468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Acquisition Intelligence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858768"/>
            <a:ext cx="1920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Batch workflows for institutional buyers.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35204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29784" y="2240280"/>
            <a:ext cx="2148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9784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129784" y="28529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2027–28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66944" y="315468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39512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Portfolio Intelligence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9512" y="3858768"/>
            <a:ext cx="1920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Monitor existing landholdings. Identify rezoning signals. Predictive sell-intent scoring across a developer's portfolio.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78624" y="35204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43216" y="2240280"/>
            <a:ext cx="2148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43216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443216" y="28529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2028–29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0376" y="315468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552944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Market Intelligence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52944" y="3858768"/>
            <a:ext cx="1920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Cross-portfolio data generates market-level benchmarks. Transaction velocity. Municipal planning approval tracking.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92056" y="35204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56648" y="2240280"/>
            <a:ext cx="2148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56648" y="23317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</a:rPr>
              <a:t>5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756648" y="28529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2029+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893808" y="3154680"/>
            <a:ext cx="1874520" cy="1645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866376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5568"/>
                </a:solidFill>
              </a:rPr>
              <a:t>Development Intelligence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66376" y="3858768"/>
            <a:ext cx="19202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Automated feasibility assessments. Integration with architectural and cost planning tools. The full development stack.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64922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" y="64556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Current stage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286000" y="6455664"/>
            <a:ext cx="7470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</a:rPr>
              <a:t>Each stage compounds the data and relationships of the previous one. The moat deepens automatically.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6327648"/>
            <a:ext cx="914400" cy="338328"/>
          </a:xfrm>
          <a:prstGeom prst="rect">
            <a:avLst/>
          </a:prstGeom>
        </p:spPr>
      </p:pic>
      <p:sp>
        <p:nvSpPr>
          <p:cNvPr id="44" name="Text 7">
            <a:extLst>
              <a:ext uri="{FF2B5EF4-FFF2-40B4-BE49-F238E27FC236}">
                <a16:creationId xmlns:a16="http://schemas.microsoft.com/office/drawing/2014/main" id="{73CCED73-B917-C728-5C45-31923C7658D9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7D63-61E0-0761-B650-40F8971D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594BF339-B740-1294-1346-32C19606E87E}"/>
              </a:ext>
            </a:extLst>
          </p:cNvPr>
          <p:cNvSpPr/>
          <p:nvPr/>
        </p:nvSpPr>
        <p:spPr>
          <a:xfrm>
            <a:off x="411479" y="225502"/>
            <a:ext cx="1316581" cy="332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THE ASK</a:t>
            </a:r>
            <a:endParaRPr lang="en-US" sz="1400" spc="300" dirty="0">
              <a:solidFill>
                <a:srgbClr val="028090"/>
              </a:solidFill>
              <a:latin typeface="Trebuchet MS" panose="020B0603020202020204" pitchFamily="34" charset="0"/>
            </a:endParaRPr>
          </a:p>
        </p:txBody>
      </p:sp>
      <p:sp>
        <p:nvSpPr>
          <p:cNvPr id="45" name="Text 7">
            <a:extLst>
              <a:ext uri="{FF2B5EF4-FFF2-40B4-BE49-F238E27FC236}">
                <a16:creationId xmlns:a16="http://schemas.microsoft.com/office/drawing/2014/main" id="{F79A9354-1934-AE1A-DBC1-7E02F3E0DB27}"/>
              </a:ext>
            </a:extLst>
          </p:cNvPr>
          <p:cNvSpPr/>
          <p:nvPr/>
        </p:nvSpPr>
        <p:spPr>
          <a:xfrm>
            <a:off x="1279381" y="2377440"/>
            <a:ext cx="56491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1</a:t>
            </a:r>
            <a:endParaRPr lang="en-US" sz="2600" dirty="0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BB20A25-EF78-DF4E-A62C-60836D740E5D}"/>
              </a:ext>
            </a:extLst>
          </p:cNvPr>
          <p:cNvSpPr/>
          <p:nvPr/>
        </p:nvSpPr>
        <p:spPr>
          <a:xfrm>
            <a:off x="411480" y="2999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Mentorship</a:t>
            </a:r>
            <a:endParaRPr lang="en-US" sz="15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B398E999-3802-2662-28F0-1A031A3F7330}"/>
              </a:ext>
            </a:extLst>
          </p:cNvPr>
          <p:cNvSpPr/>
          <p:nvPr/>
        </p:nvSpPr>
        <p:spPr>
          <a:xfrm>
            <a:off x="411480" y="2979554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/>
              <a:t>Go-to-market strategy, first enterprise sales conversations, and pricing validation with real commercial developers.</a:t>
            </a:r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B9ACDA56-FA3A-03CA-69D4-635CE8A33C93}"/>
              </a:ext>
            </a:extLst>
          </p:cNvPr>
          <p:cNvSpPr/>
          <p:nvPr/>
        </p:nvSpPr>
        <p:spPr>
          <a:xfrm>
            <a:off x="5165581" y="2377440"/>
            <a:ext cx="56491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2</a:t>
            </a:r>
            <a:endParaRPr lang="en-US" sz="26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5A06704D-06C4-11EA-1BD8-6B8667B25759}"/>
              </a:ext>
            </a:extLst>
          </p:cNvPr>
          <p:cNvSpPr/>
          <p:nvPr/>
        </p:nvSpPr>
        <p:spPr>
          <a:xfrm>
            <a:off x="4297680" y="2999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Network</a:t>
            </a:r>
            <a:endParaRPr lang="en-US" sz="15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86B332E5-CF2C-CF7D-A798-07CAE9B73439}"/>
              </a:ext>
            </a:extLst>
          </p:cNvPr>
          <p:cNvSpPr/>
          <p:nvPr/>
        </p:nvSpPr>
        <p:spPr>
          <a:xfrm>
            <a:off x="4297680" y="2979554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/>
              <a:t>Introductions to commercial RE developers, investment funds, and Registrų Centras for deeper data access partnerships.</a:t>
            </a:r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BCE5000A-9504-07D4-9DE9-A96AA42CF66A}"/>
              </a:ext>
            </a:extLst>
          </p:cNvPr>
          <p:cNvSpPr/>
          <p:nvPr/>
        </p:nvSpPr>
        <p:spPr>
          <a:xfrm>
            <a:off x="9051781" y="2377440"/>
            <a:ext cx="564913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</a:rPr>
              <a:t>3</a:t>
            </a:r>
            <a:endParaRPr lang="en-US" sz="26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3B5FE189-6C54-378F-C22F-F487660DB56A}"/>
              </a:ext>
            </a:extLst>
          </p:cNvPr>
          <p:cNvSpPr/>
          <p:nvPr/>
        </p:nvSpPr>
        <p:spPr>
          <a:xfrm>
            <a:off x="8183880" y="29992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Acceleration</a:t>
            </a:r>
            <a:endParaRPr lang="en-US" sz="1500" dirty="0"/>
          </a:p>
        </p:txBody>
      </p:sp>
      <p:sp>
        <p:nvSpPr>
          <p:cNvPr id="53" name="Text 15">
            <a:extLst>
              <a:ext uri="{FF2B5EF4-FFF2-40B4-BE49-F238E27FC236}">
                <a16:creationId xmlns:a16="http://schemas.microsoft.com/office/drawing/2014/main" id="{77DBC393-9AA8-8DDA-4AE3-0775319D9D51}"/>
              </a:ext>
            </a:extLst>
          </p:cNvPr>
          <p:cNvSpPr/>
          <p:nvPr/>
        </p:nvSpPr>
        <p:spPr>
          <a:xfrm>
            <a:off x="8183880" y="2979554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/>
              <a:t>Runway to close the first paid enterprise subscription by Q3 2026 and prepare the Latvia / Estonia expansion for Q1 2027.</a:t>
            </a:r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5DA53FBC-7475-C65B-35B4-E983E291D3FA}"/>
              </a:ext>
            </a:extLst>
          </p:cNvPr>
          <p:cNvSpPr/>
          <p:nvPr/>
        </p:nvSpPr>
        <p:spPr>
          <a:xfrm>
            <a:off x="594360" y="4605012"/>
            <a:ext cx="194736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28090"/>
                </a:solidFill>
                <a:latin typeface="Trebuchet MS" panose="020B0603020202020204" pitchFamily="34" charset="0"/>
              </a:rPr>
              <a:t>SEED ROUND</a:t>
            </a:r>
            <a:endParaRPr lang="en-US" sz="1200" spc="300" dirty="0">
              <a:latin typeface="Trebuchet MS" panose="020B0603020202020204" pitchFamily="34" charset="0"/>
            </a:endParaRPr>
          </a:p>
        </p:txBody>
      </p:sp>
      <p:sp>
        <p:nvSpPr>
          <p:cNvPr id="56" name="Text 18">
            <a:extLst>
              <a:ext uri="{FF2B5EF4-FFF2-40B4-BE49-F238E27FC236}">
                <a16:creationId xmlns:a16="http://schemas.microsoft.com/office/drawing/2014/main" id="{441C36AE-201D-7E2E-8368-2F5E7FA816EC}"/>
              </a:ext>
            </a:extLst>
          </p:cNvPr>
          <p:cNvSpPr/>
          <p:nvPr/>
        </p:nvSpPr>
        <p:spPr>
          <a:xfrm>
            <a:off x="594360" y="489204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Target: €200,000 - 350,000  ·  Use of proceeds: Sales &amp; GTM 40%  ·  Product &amp; EU integrations 35%  ·  Operations 25%</a:t>
            </a:r>
          </a:p>
        </p:txBody>
      </p:sp>
      <p:sp>
        <p:nvSpPr>
          <p:cNvPr id="57" name="Text 19">
            <a:extLst>
              <a:ext uri="{FF2B5EF4-FFF2-40B4-BE49-F238E27FC236}">
                <a16:creationId xmlns:a16="http://schemas.microsoft.com/office/drawing/2014/main" id="{E6D8DB6D-5F81-9D26-D18D-664613939711}"/>
              </a:ext>
            </a:extLst>
          </p:cNvPr>
          <p:cNvSpPr/>
          <p:nvPr/>
        </p:nvSpPr>
        <p:spPr>
          <a:xfrm>
            <a:off x="594360" y="51663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Milestone: €500K ARR  ·  50 enterprise customers  ·  Baltic expansion operational  ·  Target close: Q4 2027</a:t>
            </a: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13604F3D-C2DE-5AEC-1D87-642D73FF9118}"/>
              </a:ext>
            </a:extLst>
          </p:cNvPr>
          <p:cNvSpPr/>
          <p:nvPr/>
        </p:nvSpPr>
        <p:spPr>
          <a:xfrm>
            <a:off x="411480" y="6420630"/>
            <a:ext cx="660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50" dirty="0">
                <a:solidFill>
                  <a:srgbClr val="028090"/>
                </a:solidFill>
                <a:latin typeface="Trebuchet MS" panose="020B0603020202020204" pitchFamily="34" charset="0"/>
              </a:rPr>
              <a:t>The technology is built.  The data is live.  The market is unserved.</a:t>
            </a:r>
            <a:endParaRPr lang="en-US" sz="1500" dirty="0">
              <a:latin typeface="Trebuchet MS" panose="020B0603020202020204" pitchFamily="34" charset="0"/>
            </a:endParaRPr>
          </a:p>
        </p:txBody>
      </p:sp>
      <p:sp>
        <p:nvSpPr>
          <p:cNvPr id="59" name="Text 5">
            <a:extLst>
              <a:ext uri="{FF2B5EF4-FFF2-40B4-BE49-F238E27FC236}">
                <a16:creationId xmlns:a16="http://schemas.microsoft.com/office/drawing/2014/main" id="{9B198611-ABA8-D418-E36F-37A15CDE0B2B}"/>
              </a:ext>
            </a:extLst>
          </p:cNvPr>
          <p:cNvSpPr/>
          <p:nvPr/>
        </p:nvSpPr>
        <p:spPr>
          <a:xfrm>
            <a:off x="411480" y="767168"/>
            <a:ext cx="11430000" cy="12262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000" b="1" dirty="0"/>
              <a:t>Help us reach the first customers.</a:t>
            </a:r>
            <a:endParaRPr lang="en-US" sz="4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000" b="1" dirty="0"/>
              <a:t>Then help us scale.</a:t>
            </a:r>
            <a:endParaRPr lang="en-US" sz="4000" dirty="0"/>
          </a:p>
        </p:txBody>
      </p:sp>
      <p:pic>
        <p:nvPicPr>
          <p:cNvPr id="60" name="Image 1" descr="preencoded.png">
            <a:extLst>
              <a:ext uri="{FF2B5EF4-FFF2-40B4-BE49-F238E27FC236}">
                <a16:creationId xmlns:a16="http://schemas.microsoft.com/office/drawing/2014/main" id="{8BCCD2DE-F18C-D815-3A45-C1099450E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815" y="6418621"/>
            <a:ext cx="1371600" cy="41148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sp>
        <p:nvSpPr>
          <p:cNvPr id="61" name="Text 7">
            <a:extLst>
              <a:ext uri="{FF2B5EF4-FFF2-40B4-BE49-F238E27FC236}">
                <a16:creationId xmlns:a16="http://schemas.microsoft.com/office/drawing/2014/main" id="{D62D425B-0195-7D51-DF89-7268F8D2FFF6}"/>
              </a:ext>
            </a:extLst>
          </p:cNvPr>
          <p:cNvSpPr/>
          <p:nvPr/>
        </p:nvSpPr>
        <p:spPr>
          <a:xfrm>
            <a:off x="10891819" y="10226"/>
            <a:ext cx="129333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/>
              <a:t>terrainica.com</a:t>
            </a:r>
          </a:p>
        </p:txBody>
      </p:sp>
    </p:spTree>
    <p:extLst>
      <p:ext uri="{BB962C8B-B14F-4D97-AF65-F5344CB8AC3E}">
        <p14:creationId xmlns:p14="http://schemas.microsoft.com/office/powerpoint/2010/main" val="327082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1944</Words>
  <Application>Microsoft Office PowerPoint</Application>
  <PresentationFormat>Widescreen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Terrainica — Investor-Grade Pitch · 2026</dc:title>
  <dc:subject>PptxGenJS Presentation</dc:subject>
  <dc:creator>Henry Otuadinma</dc:creator>
  <cp:lastModifiedBy>Henry Valentine</cp:lastModifiedBy>
  <cp:revision>56</cp:revision>
  <dcterms:created xsi:type="dcterms:W3CDTF">2026-06-07T14:57:56Z</dcterms:created>
  <dcterms:modified xsi:type="dcterms:W3CDTF">2026-06-13T10:25:57Z</dcterms:modified>
</cp:coreProperties>
</file>